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notesMasterIdLst>
    <p:notesMasterId r:id="rId2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notesMaster" Target="notesMasters/notesMaster1.xml"/><Relationship Id="rId26" Type="http://schemas.openxmlformats.org/officeDocument/2006/relationships/presProps" Target="presProps.xml"/><Relationship Id="rId27" Type="http://schemas.openxmlformats.org/officeDocument/2006/relationships/viewProps" Target="viewProps.xml"/><Relationship Id="rId28" Type="http://schemas.openxmlformats.org/officeDocument/2006/relationships/theme" Target="theme/theme1.xml"/><Relationship Id="rId2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image" Target="../media/image-3-2.jpeg"/><Relationship Id="rId3" Type="http://schemas.openxmlformats.org/officeDocument/2006/relationships/image" Target="../media/image-3-3.jpe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image" Target="../media/image-4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image" Target="../media/image-5-2.jpeg"/><Relationship Id="rId3" Type="http://schemas.openxmlformats.org/officeDocument/2006/relationships/image" Target="../media/image-5-3.jpeg"/><Relationship Id="rId4" Type="http://schemas.openxmlformats.org/officeDocument/2006/relationships/image" Target="../media/image-5-4.jpe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image" Target="../media/image-6-2.jpeg"/><Relationship Id="rId3" Type="http://schemas.openxmlformats.org/officeDocument/2006/relationships/image" Target="../media/image-6-2.jpe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image" Target="../media/image-7-2.jpeg"/><Relationship Id="rId3" Type="http://schemas.openxmlformats.org/officeDocument/2006/relationships/image" Target="../media/image-7-3.jpe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image" Target="../media/image-8-2.jpeg"/><Relationship Id="rId3" Type="http://schemas.openxmlformats.org/officeDocument/2006/relationships/image" Target="../media/image-8-3.jpe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jpeg"/><Relationship Id="rId2" Type="http://schemas.openxmlformats.org/officeDocument/2006/relationships/image" Target="../media/image-14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jpeg"/><Relationship Id="rId2" Type="http://schemas.openxmlformats.org/officeDocument/2006/relationships/image" Target="../media/image-1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jpeg"/><Relationship Id="rId2" Type="http://schemas.openxmlformats.org/officeDocument/2006/relationships/image" Target="../media/image-1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jpeg"/><Relationship Id="rId2" Type="http://schemas.openxmlformats.org/officeDocument/2006/relationships/image" Target="../media/image-17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jpeg"/><Relationship Id="rId2" Type="http://schemas.openxmlformats.org/officeDocument/2006/relationships/image" Target="../media/image-18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jpeg"/><Relationship Id="rId2" Type="http://schemas.openxmlformats.org/officeDocument/2006/relationships/image" Target="../media/image-21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0" cy="5143500"/>
          </a:xfrm>
          <a:prstGeom prst="rect">
            <a:avLst/>
          </a:prstGeom>
          <a:solidFill>
            <a:srgbClr val="4A4030"/>
          </a:solidFill>
          <a:ln w="12700">
            <a:solidFill>
              <a:srgbClr val="4A403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548640"/>
            <a:ext cx="2743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b="1" spc="600" kern="0" dirty="0">
                <a:solidFill>
                  <a:srgbClr val="C2B3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MATERIAL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b="1" spc="600" kern="0" dirty="0">
                <a:solidFill>
                  <a:srgbClr val="C2B3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PROPOSAL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3108960"/>
            <a:ext cx="27432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2200" i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Interior</a:t>
            </a:r>
            <a:endParaRPr lang="en-US" sz="2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200" i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Material</a:t>
            </a:r>
            <a:endParaRPr lang="en-US" sz="2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200" i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Reference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931920" y="914400"/>
            <a:ext cx="548640" cy="36576"/>
          </a:xfrm>
          <a:prstGeom prst="rect">
            <a:avLst/>
          </a:prstGeom>
          <a:solidFill>
            <a:srgbClr val="8A7D63"/>
          </a:solidFill>
          <a:ln w="12700">
            <a:solidFill>
              <a:srgbClr val="8A7D6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931920" y="1143000"/>
            <a:ext cx="5029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마감재 제안서</a:t>
            </a:r>
            <a:endParaRPr lang="en-US" sz="4400" dirty="0"/>
          </a:p>
        </p:txBody>
      </p:sp>
      <p:sp>
        <p:nvSpPr>
          <p:cNvPr id="7" name="Shape 5"/>
          <p:cNvSpPr/>
          <p:nvPr/>
        </p:nvSpPr>
        <p:spPr>
          <a:xfrm>
            <a:off x="3931920" y="2834640"/>
            <a:ext cx="4114800" cy="0"/>
          </a:xfrm>
          <a:prstGeom prst="line">
            <a:avLst/>
          </a:prstGeom>
          <a:noFill/>
          <a:ln w="9525">
            <a:solidFill>
              <a:srgbClr val="D8D2C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931920" y="315468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8A7D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CLIENT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931920" y="3401568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지엔티 (GNT)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931920" y="393192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8A7D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SCOPE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931920" y="4178808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사무공간 인테리어 마감재 제안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3931920" y="4617720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400" kern="0" dirty="0">
                <a:solidFill>
                  <a:srgbClr val="8A7D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PROPOSED BY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3931920" y="48006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4A40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제이엠건축인테리어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500" kern="0" dirty="0">
                <a:solidFill>
                  <a:srgbClr val="8A7D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INDEX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목차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457200" cy="36576"/>
          </a:xfrm>
          <a:prstGeom prst="rect">
            <a:avLst/>
          </a:prstGeom>
          <a:solidFill>
            <a:srgbClr val="8A7D63"/>
          </a:solidFill>
          <a:ln w="12700">
            <a:solidFill>
              <a:srgbClr val="8A7D6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417320"/>
            <a:ext cx="731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i="1" dirty="0">
                <a:solidFill>
                  <a:srgbClr val="8A7D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280160" y="1417320"/>
            <a:ext cx="2286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벽지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3566160" y="1417320"/>
            <a:ext cx="2286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8A7D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WALLCOVERING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852160" y="1417320"/>
            <a:ext cx="2926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i="1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방염벽지 · KCC 신한벽지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57200" y="1901952"/>
            <a:ext cx="8229600" cy="0"/>
          </a:xfrm>
          <a:prstGeom prst="line">
            <a:avLst/>
          </a:prstGeom>
          <a:noFill/>
          <a:ln w="6350">
            <a:solidFill>
              <a:srgbClr val="D8D2C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947672"/>
            <a:ext cx="731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i="1" dirty="0">
                <a:solidFill>
                  <a:srgbClr val="8A7D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280160" y="1947672"/>
            <a:ext cx="2286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랩핑평판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566160" y="1947672"/>
            <a:ext cx="2286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8A7D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WRAPPING PANEL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852160" y="1947672"/>
            <a:ext cx="2926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i="1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대성몰딩 · 600 × 2400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57200" y="2432304"/>
            <a:ext cx="8229600" cy="0"/>
          </a:xfrm>
          <a:prstGeom prst="line">
            <a:avLst/>
          </a:prstGeom>
          <a:noFill/>
          <a:ln w="6350">
            <a:solidFill>
              <a:srgbClr val="D8D2C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2478024"/>
            <a:ext cx="731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i="1" dirty="0">
                <a:solidFill>
                  <a:srgbClr val="8A7D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280160" y="2478024"/>
            <a:ext cx="2286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붙박이가구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3566160" y="2478024"/>
            <a:ext cx="2286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8A7D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BUILT-IN FURNITURE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5852160" y="2478024"/>
            <a:ext cx="2926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i="1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예림 하이그로시 · 인조대리석 상판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57200" y="2962656"/>
            <a:ext cx="8229600" cy="0"/>
          </a:xfrm>
          <a:prstGeom prst="line">
            <a:avLst/>
          </a:prstGeom>
          <a:noFill/>
          <a:ln w="6350">
            <a:solidFill>
              <a:srgbClr val="D8D2C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3008376"/>
            <a:ext cx="731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i="1" dirty="0">
                <a:solidFill>
                  <a:srgbClr val="8A7D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280160" y="3008376"/>
            <a:ext cx="2286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사무용가구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3566160" y="3008376"/>
            <a:ext cx="2286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8A7D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OFFICE FURNITURE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852160" y="3008376"/>
            <a:ext cx="2926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i="1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책상 · 의자 · 캐비넷 · 도어락 · 회의가구 · 휴게가구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57200" y="3493008"/>
            <a:ext cx="8229600" cy="0"/>
          </a:xfrm>
          <a:prstGeom prst="line">
            <a:avLst/>
          </a:prstGeom>
          <a:noFill/>
          <a:ln w="6350">
            <a:solidFill>
              <a:srgbClr val="D8D2C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" y="3538728"/>
            <a:ext cx="731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i="1" dirty="0">
                <a:solidFill>
                  <a:srgbClr val="8A7D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05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1280160" y="3538728"/>
            <a:ext cx="2286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조명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3566160" y="3538728"/>
            <a:ext cx="2286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8A7D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LIGHTING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5852160" y="3538728"/>
            <a:ext cx="2926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i="1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LED 평판조명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57200" y="4023360"/>
            <a:ext cx="8229600" cy="0"/>
          </a:xfrm>
          <a:prstGeom prst="line">
            <a:avLst/>
          </a:prstGeom>
          <a:noFill/>
          <a:ln w="6350">
            <a:solidFill>
              <a:srgbClr val="D8D2C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57200" y="4069080"/>
            <a:ext cx="731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i="1" dirty="0">
                <a:solidFill>
                  <a:srgbClr val="8A7D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06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1280160" y="4069080"/>
            <a:ext cx="2286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가전 · 영상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3566160" y="4069080"/>
            <a:ext cx="2286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8A7D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APPLIANCE  ·  AV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5852160" y="4069080"/>
            <a:ext cx="2926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i="1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냉장고 · 빔프로젝트 · 스피커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457200" y="4553712"/>
            <a:ext cx="8229600" cy="0"/>
          </a:xfrm>
          <a:prstGeom prst="line">
            <a:avLst/>
          </a:prstGeom>
          <a:noFill/>
          <a:ln w="6350">
            <a:solidFill>
              <a:srgbClr val="D8D2C5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57200" y="4800600"/>
            <a:ext cx="8229600" cy="0"/>
          </a:xfrm>
          <a:prstGeom prst="line">
            <a:avLst/>
          </a:prstGeom>
          <a:noFill/>
          <a:ln w="6350">
            <a:solidFill>
              <a:srgbClr val="D8D2C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57200" y="486460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제이엠건축인테리어  ·  지엔티 마감재 제안서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6858000" y="486460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200" kern="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 / 23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365760" cy="365760"/>
          </a:xfrm>
          <a:prstGeom prst="ellipse">
            <a:avLst/>
          </a:prstGeom>
          <a:solidFill>
            <a:srgbClr val="8A7D63"/>
          </a:solidFill>
          <a:ln w="12700">
            <a:solidFill>
              <a:srgbClr val="8A7D6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840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960120" y="329184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8A7D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WALLCOVERING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960120" y="530352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벽지</a:t>
            </a:r>
            <a:pPr indent="0" marL="0">
              <a:buNone/>
            </a:pPr>
            <a:r>
              <a:rPr lang="en-US" sz="180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:  </a:t>
            </a:r>
            <a:pPr indent="0" marL="0">
              <a:buNone/>
            </a:pPr>
            <a:r>
              <a:rPr lang="en-US" sz="18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KCC 신한벽지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57200" y="987552"/>
            <a:ext cx="365760" cy="27432"/>
          </a:xfrm>
          <a:prstGeom prst="rect">
            <a:avLst/>
          </a:prstGeom>
          <a:solidFill>
            <a:srgbClr val="8A7D63"/>
          </a:solidFill>
          <a:ln w="12700">
            <a:solidFill>
              <a:srgbClr val="8A7D63"/>
            </a:solidFill>
            <a:prstDash val="solid"/>
          </a:ln>
        </p:spPr>
      </p:sp>
      <p:pic>
        <p:nvPicPr>
          <p:cNvPr id="7" name="Image 0" descr="C:\Users\Administrator\Desktop\JM_클로드\지엔티_재료제안서\_user_imgs\p03-1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356360"/>
            <a:ext cx="2499360" cy="24993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57200" y="4114800"/>
            <a:ext cx="2499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방염벽지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457200" y="4389120"/>
            <a:ext cx="2499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F15130-1  매트 피니시</a:t>
            </a:r>
            <a:endParaRPr lang="en-US" sz="1000" dirty="0"/>
          </a:p>
        </p:txBody>
      </p:sp>
      <p:pic>
        <p:nvPicPr>
          <p:cNvPr id="10" name="Image 1" descr="C:\Users\Administrator\Desktop\JM_클로드\지엔티_재료제안서\_user_imgs\p03-2.jpe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22320" y="1356360"/>
            <a:ext cx="2499360" cy="249936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3322320" y="4114800"/>
            <a:ext cx="2499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방염벽지</a:t>
            </a:r>
            <a:endParaRPr lang="en-US" sz="1050" dirty="0"/>
          </a:p>
        </p:txBody>
      </p:sp>
      <p:sp>
        <p:nvSpPr>
          <p:cNvPr id="12" name="Text 8"/>
          <p:cNvSpPr/>
          <p:nvPr/>
        </p:nvSpPr>
        <p:spPr>
          <a:xfrm>
            <a:off x="3322320" y="4389120"/>
            <a:ext cx="2499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F15130-2  매트 피니시</a:t>
            </a:r>
            <a:endParaRPr lang="en-US" sz="1000" dirty="0"/>
          </a:p>
        </p:txBody>
      </p:sp>
      <p:pic>
        <p:nvPicPr>
          <p:cNvPr id="13" name="Image 2" descr="C:\Users\Administrator\Desktop\JM_클로드\지엔티_재료제안서\_user_imgs\p03-3.jpe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87440" y="1356360"/>
            <a:ext cx="2499360" cy="249936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6187440" y="4114800"/>
            <a:ext cx="2499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방염벽지</a:t>
            </a:r>
            <a:endParaRPr lang="en-US" sz="1050" dirty="0"/>
          </a:p>
        </p:txBody>
      </p:sp>
      <p:sp>
        <p:nvSpPr>
          <p:cNvPr id="15" name="Text 10"/>
          <p:cNvSpPr/>
          <p:nvPr/>
        </p:nvSpPr>
        <p:spPr>
          <a:xfrm>
            <a:off x="6187440" y="4389120"/>
            <a:ext cx="2499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F15130-5  매트 피니시</a:t>
            </a:r>
            <a:endParaRPr lang="en-US" sz="1000" dirty="0"/>
          </a:p>
        </p:txBody>
      </p:sp>
      <p:sp>
        <p:nvSpPr>
          <p:cNvPr id="16" name="Shape 11"/>
          <p:cNvSpPr/>
          <p:nvPr/>
        </p:nvSpPr>
        <p:spPr>
          <a:xfrm>
            <a:off x="457200" y="4800600"/>
            <a:ext cx="8229600" cy="0"/>
          </a:xfrm>
          <a:prstGeom prst="line">
            <a:avLst/>
          </a:prstGeom>
          <a:noFill/>
          <a:ln w="6350">
            <a:solidFill>
              <a:srgbClr val="D8D2C5"/>
            </a:solidFill>
            <a:prstDash val="solid"/>
          </a:ln>
        </p:spPr>
      </p:sp>
      <p:sp>
        <p:nvSpPr>
          <p:cNvPr id="17" name="Text 12"/>
          <p:cNvSpPr/>
          <p:nvPr/>
        </p:nvSpPr>
        <p:spPr>
          <a:xfrm>
            <a:off x="457200" y="486460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제이엠건축인테리어  ·  지엔티 마감재 제안서</a:t>
            </a:r>
            <a:endParaRPr lang="en-US" sz="800" dirty="0"/>
          </a:p>
        </p:txBody>
      </p:sp>
      <p:sp>
        <p:nvSpPr>
          <p:cNvPr id="18" name="Text 13"/>
          <p:cNvSpPr/>
          <p:nvPr/>
        </p:nvSpPr>
        <p:spPr>
          <a:xfrm>
            <a:off x="6858000" y="486460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200" kern="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 / 23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365760" cy="365760"/>
          </a:xfrm>
          <a:prstGeom prst="ellipse">
            <a:avLst/>
          </a:prstGeom>
          <a:solidFill>
            <a:srgbClr val="8A7D63"/>
          </a:solidFill>
          <a:ln w="12700">
            <a:solidFill>
              <a:srgbClr val="8A7D6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840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960120" y="329184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8A7D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WALLCOVERING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960120" y="530352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벽지</a:t>
            </a:r>
            <a:pPr indent="0" marL="0">
              <a:buNone/>
            </a:pPr>
            <a:r>
              <a:rPr lang="en-US" sz="180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:  </a:t>
            </a:r>
            <a:pPr indent="0" marL="0">
              <a:buNone/>
            </a:pPr>
            <a:r>
              <a:rPr lang="en-US" sz="18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KCC 신한벽지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57200" y="987552"/>
            <a:ext cx="365760" cy="27432"/>
          </a:xfrm>
          <a:prstGeom prst="rect">
            <a:avLst/>
          </a:prstGeom>
          <a:solidFill>
            <a:srgbClr val="8A7D63"/>
          </a:solidFill>
          <a:ln w="12700">
            <a:solidFill>
              <a:srgbClr val="8A7D63"/>
            </a:solidFill>
            <a:prstDash val="solid"/>
          </a:ln>
        </p:spPr>
      </p:sp>
      <p:pic>
        <p:nvPicPr>
          <p:cNvPr id="7" name="Image 0" descr="C:\Users\Administrator\Desktop\JM_클로드\지엔티_재료제안서\_user_imgs\p04-1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1188720"/>
            <a:ext cx="2834640" cy="28346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57200" y="411480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방염벽지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457200" y="438912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F15128-2  페블스톤</a:t>
            </a:r>
            <a:endParaRPr lang="en-US" sz="1000" dirty="0"/>
          </a:p>
        </p:txBody>
      </p:sp>
      <p:pic>
        <p:nvPicPr>
          <p:cNvPr id="10" name="Image 1" descr="C:\Users\Administrator\Desktop\JM_클로드\지엔티_재료제안서\_user_imgs\p04-2.jpe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9240" y="1188720"/>
            <a:ext cx="2834640" cy="283464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846320" y="411480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방염벽지</a:t>
            </a:r>
            <a:endParaRPr lang="en-US" sz="1050" dirty="0"/>
          </a:p>
        </p:txBody>
      </p:sp>
      <p:sp>
        <p:nvSpPr>
          <p:cNvPr id="12" name="Text 8"/>
          <p:cNvSpPr/>
          <p:nvPr/>
        </p:nvSpPr>
        <p:spPr>
          <a:xfrm>
            <a:off x="4846320" y="438912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F15128-6  페블스톤</a:t>
            </a:r>
            <a:endParaRPr lang="en-US" sz="1000" dirty="0"/>
          </a:p>
        </p:txBody>
      </p:sp>
      <p:sp>
        <p:nvSpPr>
          <p:cNvPr id="13" name="Shape 9"/>
          <p:cNvSpPr/>
          <p:nvPr/>
        </p:nvSpPr>
        <p:spPr>
          <a:xfrm>
            <a:off x="457200" y="4800600"/>
            <a:ext cx="8229600" cy="0"/>
          </a:xfrm>
          <a:prstGeom prst="line">
            <a:avLst/>
          </a:prstGeom>
          <a:noFill/>
          <a:ln w="6350">
            <a:solidFill>
              <a:srgbClr val="D8D2C5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457200" y="486460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제이엠건축인테리어  ·  지엔티 마감재 제안서</a:t>
            </a:r>
            <a:endParaRPr lang="en-US" sz="800" dirty="0"/>
          </a:p>
        </p:txBody>
      </p:sp>
      <p:sp>
        <p:nvSpPr>
          <p:cNvPr id="15" name="Text 11"/>
          <p:cNvSpPr/>
          <p:nvPr/>
        </p:nvSpPr>
        <p:spPr>
          <a:xfrm>
            <a:off x="6858000" y="486460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200" kern="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 / 23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365760" cy="365760"/>
          </a:xfrm>
          <a:prstGeom prst="ellipse">
            <a:avLst/>
          </a:prstGeom>
          <a:solidFill>
            <a:srgbClr val="8A7D63"/>
          </a:solidFill>
          <a:ln w="12700">
            <a:solidFill>
              <a:srgbClr val="8A7D6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840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960120" y="329184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8A7D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WRAPPING PANEL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960120" y="530352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랩핑평판</a:t>
            </a:r>
            <a:pPr indent="0" marL="0">
              <a:buNone/>
            </a:pPr>
            <a:r>
              <a:rPr lang="en-US" sz="180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:  </a:t>
            </a:r>
            <a:pPr indent="0" marL="0">
              <a:buNone/>
            </a:pPr>
            <a:r>
              <a:rPr lang="en-US" sz="18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대성몰딩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57200" y="987552"/>
            <a:ext cx="365760" cy="27432"/>
          </a:xfrm>
          <a:prstGeom prst="rect">
            <a:avLst/>
          </a:prstGeom>
          <a:solidFill>
            <a:srgbClr val="8A7D63"/>
          </a:solidFill>
          <a:ln w="12700">
            <a:solidFill>
              <a:srgbClr val="8A7D6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0" y="56692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600 × 2400 × 9T</a:t>
            </a:r>
            <a:endParaRPr lang="en-US" sz="1100" dirty="0"/>
          </a:p>
        </p:txBody>
      </p:sp>
      <p:pic>
        <p:nvPicPr>
          <p:cNvPr id="8" name="Image 0" descr="C:\Users\Administrator\Desktop\JM_클로드\지엔티_재료제안서\_user_imgs\p05-4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04497" y="1188720"/>
            <a:ext cx="5135006" cy="210312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457200" y="34747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A40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추천색상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1828800" y="3611880"/>
            <a:ext cx="274320" cy="0"/>
          </a:xfrm>
          <a:prstGeom prst="line">
            <a:avLst/>
          </a:prstGeom>
          <a:noFill/>
          <a:ln w="12700">
            <a:solidFill>
              <a:srgbClr val="8A7D63"/>
            </a:solidFill>
            <a:prstDash val="solid"/>
          </a:ln>
        </p:spPr>
      </p:sp>
      <p:pic>
        <p:nvPicPr>
          <p:cNvPr id="11" name="Image 1" descr="C:\Users\Administrator\Desktop\JM_클로드\지엔티_재료제안서\_user_imgs\p05-1.jpe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32120" y="3446543"/>
            <a:ext cx="868680" cy="650715"/>
          </a:xfrm>
          <a:prstGeom prst="rect">
            <a:avLst/>
          </a:prstGeom>
        </p:spPr>
      </p:pic>
      <p:pic>
        <p:nvPicPr>
          <p:cNvPr id="12" name="Image 2" descr="C:\Users\Administrator\Desktop\JM_클로드\지엔티_재료제안서\_user_imgs\p05-2.jpe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5120" y="3446543"/>
            <a:ext cx="868680" cy="650715"/>
          </a:xfrm>
          <a:prstGeom prst="rect">
            <a:avLst/>
          </a:prstGeom>
        </p:spPr>
      </p:pic>
      <p:pic>
        <p:nvPicPr>
          <p:cNvPr id="13" name="Image 3" descr="C:\Users\Administrator\Desktop\JM_클로드\지엔티_재료제안서\_user_imgs\p05-3.jpe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18120" y="3446543"/>
            <a:ext cx="868680" cy="650715"/>
          </a:xfrm>
          <a:prstGeom prst="rect">
            <a:avLst/>
          </a:prstGeom>
        </p:spPr>
      </p:pic>
      <p:sp>
        <p:nvSpPr>
          <p:cNvPr id="14" name="Shape 8"/>
          <p:cNvSpPr/>
          <p:nvPr/>
        </p:nvSpPr>
        <p:spPr>
          <a:xfrm>
            <a:off x="457200" y="4800600"/>
            <a:ext cx="8229600" cy="0"/>
          </a:xfrm>
          <a:prstGeom prst="line">
            <a:avLst/>
          </a:prstGeom>
          <a:noFill/>
          <a:ln w="6350">
            <a:solidFill>
              <a:srgbClr val="D8D2C5"/>
            </a:solidFill>
            <a:prstDash val="solid"/>
          </a:ln>
        </p:spPr>
      </p:sp>
      <p:sp>
        <p:nvSpPr>
          <p:cNvPr id="15" name="Text 9"/>
          <p:cNvSpPr/>
          <p:nvPr/>
        </p:nvSpPr>
        <p:spPr>
          <a:xfrm>
            <a:off x="457200" y="486460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제이엠건축인테리어  ·  지엔티 마감재 제안서</a:t>
            </a:r>
            <a:endParaRPr lang="en-US" sz="800" dirty="0"/>
          </a:p>
        </p:txBody>
      </p:sp>
      <p:sp>
        <p:nvSpPr>
          <p:cNvPr id="16" name="Text 10"/>
          <p:cNvSpPr/>
          <p:nvPr/>
        </p:nvSpPr>
        <p:spPr>
          <a:xfrm>
            <a:off x="6858000" y="486460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200" kern="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05 / 23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365760" cy="365760"/>
          </a:xfrm>
          <a:prstGeom prst="ellipse">
            <a:avLst/>
          </a:prstGeom>
          <a:solidFill>
            <a:srgbClr val="8A7D63"/>
          </a:solidFill>
          <a:ln w="12700">
            <a:solidFill>
              <a:srgbClr val="8A7D6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840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960120" y="329184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8A7D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BUILT-IN  ·  HIGH GLOSSY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960120" y="530352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붙박이가구</a:t>
            </a:r>
            <a:pPr indent="0" marL="0">
              <a:buNone/>
            </a:pPr>
            <a:r>
              <a:rPr lang="en-US" sz="180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:  </a:t>
            </a:r>
            <a:pPr indent="0" marL="0">
              <a:buNone/>
            </a:pPr>
            <a:r>
              <a:rPr lang="en-US" sz="18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예림 하이그로시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57200" y="987552"/>
            <a:ext cx="365760" cy="27432"/>
          </a:xfrm>
          <a:prstGeom prst="rect">
            <a:avLst/>
          </a:prstGeom>
          <a:solidFill>
            <a:srgbClr val="8A7D63"/>
          </a:solidFill>
          <a:ln w="12700">
            <a:solidFill>
              <a:srgbClr val="8A7D63"/>
            </a:solidFill>
            <a:prstDash val="solid"/>
          </a:ln>
        </p:spPr>
      </p:sp>
      <p:pic>
        <p:nvPicPr>
          <p:cNvPr id="7" name="Image 0" descr="C:\Users\Administrator\Desktop\JM_클로드\지엔티_재료제안서\_user_imgs\p06-1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54680" y="1097280"/>
            <a:ext cx="1188720" cy="11887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2697480" y="2377440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매트 그레이  ·  SM-06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2697480" y="2651760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두께 18T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4343400" y="141732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8A7D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+</a:t>
            </a:r>
            <a:endParaRPr lang="en-US" sz="2200" dirty="0"/>
          </a:p>
        </p:txBody>
      </p:sp>
      <p:pic>
        <p:nvPicPr>
          <p:cNvPr id="11" name="Image 1" descr="C:\Users\Administrator\Desktop\JM_클로드\지엔티_재료제안서\_user_imgs\p06-2.jpe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0600" y="1097280"/>
            <a:ext cx="1188720" cy="118872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343400" y="2377440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프렌치 오크  ·  PW-21</a:t>
            </a:r>
            <a:endParaRPr lang="en-US" sz="1050" dirty="0"/>
          </a:p>
        </p:txBody>
      </p:sp>
      <p:sp>
        <p:nvSpPr>
          <p:cNvPr id="13" name="Text 9"/>
          <p:cNvSpPr/>
          <p:nvPr/>
        </p:nvSpPr>
        <p:spPr>
          <a:xfrm>
            <a:off x="4343400" y="2651760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두께 18T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3154680" y="3017520"/>
            <a:ext cx="1188720" cy="1188720"/>
          </a:xfrm>
          <a:prstGeom prst="rect">
            <a:avLst/>
          </a:prstGeom>
          <a:solidFill>
            <a:srgbClr val="F0EBE3"/>
          </a:solidFill>
          <a:ln w="6350">
            <a:solidFill>
              <a:srgbClr val="BBB39E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2697480" y="4297680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매트 밀크화이트  ·  SM-02</a:t>
            </a:r>
            <a:endParaRPr lang="en-US" sz="1050" dirty="0"/>
          </a:p>
        </p:txBody>
      </p:sp>
      <p:sp>
        <p:nvSpPr>
          <p:cNvPr id="16" name="Text 12"/>
          <p:cNvSpPr/>
          <p:nvPr/>
        </p:nvSpPr>
        <p:spPr>
          <a:xfrm>
            <a:off x="2697480" y="4572000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두께 18T</a:t>
            </a:r>
            <a:endParaRPr lang="en-US" sz="1000" dirty="0"/>
          </a:p>
        </p:txBody>
      </p:sp>
      <p:sp>
        <p:nvSpPr>
          <p:cNvPr id="17" name="Text 13"/>
          <p:cNvSpPr/>
          <p:nvPr/>
        </p:nvSpPr>
        <p:spPr>
          <a:xfrm>
            <a:off x="4343400" y="333756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8A7D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+</a:t>
            </a:r>
            <a:endParaRPr lang="en-US" sz="2200" dirty="0"/>
          </a:p>
        </p:txBody>
      </p:sp>
      <p:pic>
        <p:nvPicPr>
          <p:cNvPr id="18" name="Image 2" descr="C:\Users\Administrator\Desktop\JM_클로드\지엔티_재료제안서\_user_imgs\p06-2.jpe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0600" y="3017520"/>
            <a:ext cx="1188720" cy="118872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4343400" y="4297680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프렌치 오크  ·  PW-21</a:t>
            </a:r>
            <a:endParaRPr lang="en-US" sz="1050" dirty="0"/>
          </a:p>
        </p:txBody>
      </p:sp>
      <p:sp>
        <p:nvSpPr>
          <p:cNvPr id="20" name="Text 15"/>
          <p:cNvSpPr/>
          <p:nvPr/>
        </p:nvSpPr>
        <p:spPr>
          <a:xfrm>
            <a:off x="4343400" y="4572000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두께 18T</a:t>
            </a:r>
            <a:endParaRPr lang="en-US" sz="1000" dirty="0"/>
          </a:p>
        </p:txBody>
      </p:sp>
      <p:sp>
        <p:nvSpPr>
          <p:cNvPr id="21" name="Shape 16"/>
          <p:cNvSpPr/>
          <p:nvPr/>
        </p:nvSpPr>
        <p:spPr>
          <a:xfrm>
            <a:off x="457200" y="4800600"/>
            <a:ext cx="8229600" cy="0"/>
          </a:xfrm>
          <a:prstGeom prst="line">
            <a:avLst/>
          </a:prstGeom>
          <a:noFill/>
          <a:ln w="6350">
            <a:solidFill>
              <a:srgbClr val="D8D2C5"/>
            </a:solidFill>
            <a:prstDash val="solid"/>
          </a:ln>
        </p:spPr>
      </p:sp>
      <p:sp>
        <p:nvSpPr>
          <p:cNvPr id="22" name="Text 17"/>
          <p:cNvSpPr/>
          <p:nvPr/>
        </p:nvSpPr>
        <p:spPr>
          <a:xfrm>
            <a:off x="457200" y="486460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제이엠건축인테리어  ·  지엔티 마감재 제안서</a:t>
            </a:r>
            <a:endParaRPr lang="en-US" sz="800" dirty="0"/>
          </a:p>
        </p:txBody>
      </p:sp>
      <p:sp>
        <p:nvSpPr>
          <p:cNvPr id="23" name="Text 18"/>
          <p:cNvSpPr/>
          <p:nvPr/>
        </p:nvSpPr>
        <p:spPr>
          <a:xfrm>
            <a:off x="6858000" y="486460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200" kern="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06 / 23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365760" cy="365760"/>
          </a:xfrm>
          <a:prstGeom prst="ellipse">
            <a:avLst/>
          </a:prstGeom>
          <a:solidFill>
            <a:srgbClr val="8A7D63"/>
          </a:solidFill>
          <a:ln w="12700">
            <a:solidFill>
              <a:srgbClr val="8A7D6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840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960120" y="329184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8A7D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BUILT-IN  ·  COUNTERTOP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960120" y="530352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붙박이가구  ·  인조대리석 상판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57200" y="987552"/>
            <a:ext cx="365760" cy="27432"/>
          </a:xfrm>
          <a:prstGeom prst="rect">
            <a:avLst/>
          </a:prstGeom>
          <a:solidFill>
            <a:srgbClr val="8A7D63"/>
          </a:solidFill>
          <a:ln w="12700">
            <a:solidFill>
              <a:srgbClr val="8A7D63"/>
            </a:solidFill>
            <a:prstDash val="solid"/>
          </a:ln>
        </p:spPr>
      </p:sp>
      <p:pic>
        <p:nvPicPr>
          <p:cNvPr id="7" name="Image 0" descr="C:\Users\Administrator\Desktop\JM_클로드\지엔티_재료제안서\_user_imgs\p07-1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356360"/>
            <a:ext cx="2499360" cy="24993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57200" y="4114800"/>
            <a:ext cx="2499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스틸 콘크리트  ·  G555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457200" y="4389120"/>
            <a:ext cx="2499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두께 12T</a:t>
            </a:r>
            <a:endParaRPr lang="en-US" sz="1000" dirty="0"/>
          </a:p>
        </p:txBody>
      </p:sp>
      <p:pic>
        <p:nvPicPr>
          <p:cNvPr id="10" name="Image 1" descr="C:\Users\Administrator\Desktop\JM_클로드\지엔티_재료제안서\_user_imgs\p07-2.jpe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22320" y="1666110"/>
            <a:ext cx="2499360" cy="1879861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3322320" y="4114800"/>
            <a:ext cx="2499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소프트 그레이  ·  G184</a:t>
            </a:r>
            <a:endParaRPr lang="en-US" sz="1050" dirty="0"/>
          </a:p>
        </p:txBody>
      </p:sp>
      <p:sp>
        <p:nvSpPr>
          <p:cNvPr id="12" name="Text 8"/>
          <p:cNvSpPr/>
          <p:nvPr/>
        </p:nvSpPr>
        <p:spPr>
          <a:xfrm>
            <a:off x="3322320" y="4389120"/>
            <a:ext cx="2499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두께 12T</a:t>
            </a:r>
            <a:endParaRPr lang="en-US" sz="1000" dirty="0"/>
          </a:p>
        </p:txBody>
      </p:sp>
      <p:pic>
        <p:nvPicPr>
          <p:cNvPr id="13" name="Image 2" descr="C:\Users\Administrator\Desktop\JM_클로드\지엔티_재료제안서\_user_imgs\p07-3.jpe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87440" y="1356360"/>
            <a:ext cx="2499360" cy="249936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6187440" y="4114800"/>
            <a:ext cx="2499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블랙 버드  ·  G047</a:t>
            </a:r>
            <a:endParaRPr lang="en-US" sz="1050" dirty="0"/>
          </a:p>
        </p:txBody>
      </p:sp>
      <p:sp>
        <p:nvSpPr>
          <p:cNvPr id="15" name="Text 10"/>
          <p:cNvSpPr/>
          <p:nvPr/>
        </p:nvSpPr>
        <p:spPr>
          <a:xfrm>
            <a:off x="6187440" y="4389120"/>
            <a:ext cx="2499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두께 12T</a:t>
            </a:r>
            <a:endParaRPr lang="en-US" sz="1000" dirty="0"/>
          </a:p>
        </p:txBody>
      </p:sp>
      <p:sp>
        <p:nvSpPr>
          <p:cNvPr id="16" name="Shape 11"/>
          <p:cNvSpPr/>
          <p:nvPr/>
        </p:nvSpPr>
        <p:spPr>
          <a:xfrm>
            <a:off x="457200" y="4800600"/>
            <a:ext cx="8229600" cy="0"/>
          </a:xfrm>
          <a:prstGeom prst="line">
            <a:avLst/>
          </a:prstGeom>
          <a:noFill/>
          <a:ln w="6350">
            <a:solidFill>
              <a:srgbClr val="D8D2C5"/>
            </a:solidFill>
            <a:prstDash val="solid"/>
          </a:ln>
        </p:spPr>
      </p:sp>
      <p:sp>
        <p:nvSpPr>
          <p:cNvPr id="17" name="Text 12"/>
          <p:cNvSpPr/>
          <p:nvPr/>
        </p:nvSpPr>
        <p:spPr>
          <a:xfrm>
            <a:off x="457200" y="486460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제이엠건축인테리어  ·  지엔티 마감재 제안서</a:t>
            </a:r>
            <a:endParaRPr lang="en-US" sz="800" dirty="0"/>
          </a:p>
        </p:txBody>
      </p:sp>
      <p:sp>
        <p:nvSpPr>
          <p:cNvPr id="18" name="Text 13"/>
          <p:cNvSpPr/>
          <p:nvPr/>
        </p:nvSpPr>
        <p:spPr>
          <a:xfrm>
            <a:off x="6858000" y="486460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200" kern="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07 / 23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365760" cy="365760"/>
          </a:xfrm>
          <a:prstGeom prst="ellipse">
            <a:avLst/>
          </a:prstGeom>
          <a:solidFill>
            <a:srgbClr val="8A7D63"/>
          </a:solidFill>
          <a:ln w="12700">
            <a:solidFill>
              <a:srgbClr val="8A7D6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840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960120" y="329184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8A7D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OFFICE  ·  DESK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960120" y="530352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사무용책상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57200" y="987552"/>
            <a:ext cx="365760" cy="27432"/>
          </a:xfrm>
          <a:prstGeom prst="rect">
            <a:avLst/>
          </a:prstGeom>
          <a:solidFill>
            <a:srgbClr val="8A7D63"/>
          </a:solidFill>
          <a:ln w="12700">
            <a:solidFill>
              <a:srgbClr val="8A7D63"/>
            </a:solidFill>
            <a:prstDash val="solid"/>
          </a:ln>
        </p:spPr>
      </p:sp>
      <p:pic>
        <p:nvPicPr>
          <p:cNvPr id="7" name="Image 0" descr="C:\Users\Administrator\Desktop\JM_클로드\지엔티_재료제안서\_user_imgs\p08-1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729433"/>
            <a:ext cx="2499360" cy="175321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57200" y="4114800"/>
            <a:ext cx="2499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덕트형 책상 5구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457200" y="4389120"/>
            <a:ext cx="2499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1400 × 800 × 720</a:t>
            </a:r>
            <a:endParaRPr lang="en-US" sz="1000" dirty="0"/>
          </a:p>
        </p:txBody>
      </p:sp>
      <p:pic>
        <p:nvPicPr>
          <p:cNvPr id="10" name="Image 1" descr="C:\Users\Administrator\Desktop\JM_클로드\지엔티_재료제안서\_user_imgs\p08-2.jpe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22320" y="1345587"/>
            <a:ext cx="2499360" cy="2520906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3322320" y="4114800"/>
            <a:ext cx="2499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배선 매립 덕트</a:t>
            </a:r>
            <a:endParaRPr lang="en-US" sz="1050" dirty="0"/>
          </a:p>
        </p:txBody>
      </p:sp>
      <p:sp>
        <p:nvSpPr>
          <p:cNvPr id="12" name="Text 8"/>
          <p:cNvSpPr/>
          <p:nvPr/>
        </p:nvSpPr>
        <p:spPr>
          <a:xfrm>
            <a:off x="3322320" y="4389120"/>
            <a:ext cx="2499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넓은 배선 공간 · 매립형</a:t>
            </a:r>
            <a:endParaRPr lang="en-US" sz="1000" dirty="0"/>
          </a:p>
        </p:txBody>
      </p:sp>
      <p:pic>
        <p:nvPicPr>
          <p:cNvPr id="13" name="Image 2" descr="C:\Users\Administrator\Desktop\JM_클로드\지엔티_재료제안서\_user_imgs\p08-3.jpe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87440" y="1778666"/>
            <a:ext cx="2499360" cy="1654749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6187440" y="4114800"/>
            <a:ext cx="2499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덕트형 책상 (단독)</a:t>
            </a:r>
            <a:endParaRPr lang="en-US" sz="1050" dirty="0"/>
          </a:p>
        </p:txBody>
      </p:sp>
      <p:sp>
        <p:nvSpPr>
          <p:cNvPr id="15" name="Text 10"/>
          <p:cNvSpPr/>
          <p:nvPr/>
        </p:nvSpPr>
        <p:spPr>
          <a:xfrm>
            <a:off x="6187440" y="4389120"/>
            <a:ext cx="2499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1400 × 800 × 720</a:t>
            </a:r>
            <a:endParaRPr lang="en-US" sz="1000" dirty="0"/>
          </a:p>
        </p:txBody>
      </p:sp>
      <p:sp>
        <p:nvSpPr>
          <p:cNvPr id="16" name="Shape 11"/>
          <p:cNvSpPr/>
          <p:nvPr/>
        </p:nvSpPr>
        <p:spPr>
          <a:xfrm>
            <a:off x="457200" y="4800600"/>
            <a:ext cx="8229600" cy="0"/>
          </a:xfrm>
          <a:prstGeom prst="line">
            <a:avLst/>
          </a:prstGeom>
          <a:noFill/>
          <a:ln w="6350">
            <a:solidFill>
              <a:srgbClr val="D8D2C5"/>
            </a:solidFill>
            <a:prstDash val="solid"/>
          </a:ln>
        </p:spPr>
      </p:sp>
      <p:sp>
        <p:nvSpPr>
          <p:cNvPr id="17" name="Text 12"/>
          <p:cNvSpPr/>
          <p:nvPr/>
        </p:nvSpPr>
        <p:spPr>
          <a:xfrm>
            <a:off x="457200" y="486460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제이엠건축인테리어  ·  지엔티 마감재 제안서</a:t>
            </a:r>
            <a:endParaRPr lang="en-US" sz="800" dirty="0"/>
          </a:p>
        </p:txBody>
      </p:sp>
      <p:sp>
        <p:nvSpPr>
          <p:cNvPr id="18" name="Text 13"/>
          <p:cNvSpPr/>
          <p:nvPr/>
        </p:nvSpPr>
        <p:spPr>
          <a:xfrm>
            <a:off x="6858000" y="486460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200" kern="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08 / 23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365760" cy="365760"/>
          </a:xfrm>
          <a:prstGeom prst="ellipse">
            <a:avLst/>
          </a:prstGeom>
          <a:solidFill>
            <a:srgbClr val="8A7D63"/>
          </a:solidFill>
          <a:ln w="12700">
            <a:solidFill>
              <a:srgbClr val="8A7D6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840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960120" y="329184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8A7D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OFFICE  ·  DESK (PEDESTAL)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960120" y="530352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사무용책상  ·  수납형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57200" y="987552"/>
            <a:ext cx="365760" cy="27432"/>
          </a:xfrm>
          <a:prstGeom prst="rect">
            <a:avLst/>
          </a:prstGeom>
          <a:solidFill>
            <a:srgbClr val="8A7D63"/>
          </a:solidFill>
          <a:ln w="12700">
            <a:solidFill>
              <a:srgbClr val="8A7D63"/>
            </a:solidFill>
            <a:prstDash val="solid"/>
          </a:ln>
        </p:spPr>
      </p:sp>
      <p:pic>
        <p:nvPicPr>
          <p:cNvPr id="7" name="Image 0" descr="C:\Users\Administrator\Desktop\JM_클로드\지엔티_재료제안서\_extracted2\s07-img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78123" y="1188720"/>
            <a:ext cx="3587755" cy="28346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57200" y="411480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일반형 데스크 (수납 일체형)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457200" y="43891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1400 × 800 × 720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457200" y="4800600"/>
            <a:ext cx="8229600" cy="0"/>
          </a:xfrm>
          <a:prstGeom prst="line">
            <a:avLst/>
          </a:prstGeom>
          <a:noFill/>
          <a:ln w="6350">
            <a:solidFill>
              <a:srgbClr val="D8D2C5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57200" y="486460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제이엠건축인테리어  ·  지엔티 마감재 제안서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6858000" y="486460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200" kern="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09 / 23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365760" cy="365760"/>
          </a:xfrm>
          <a:prstGeom prst="ellipse">
            <a:avLst/>
          </a:prstGeom>
          <a:solidFill>
            <a:srgbClr val="8A7D63"/>
          </a:solidFill>
          <a:ln w="12700">
            <a:solidFill>
              <a:srgbClr val="8A7D6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840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960120" y="329184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8A7D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OFFICE  ·  MOBILE DRAWER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960120" y="530352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3단 이동서랍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57200" y="987552"/>
            <a:ext cx="365760" cy="27432"/>
          </a:xfrm>
          <a:prstGeom prst="rect">
            <a:avLst/>
          </a:prstGeom>
          <a:solidFill>
            <a:srgbClr val="8A7D63"/>
          </a:solidFill>
          <a:ln w="12700">
            <a:solidFill>
              <a:srgbClr val="8A7D63"/>
            </a:solidFill>
            <a:prstDash val="solid"/>
          </a:ln>
        </p:spPr>
      </p:sp>
      <p:pic>
        <p:nvPicPr>
          <p:cNvPr id="7" name="Image 0" descr="C:\Users\Administrator\Desktop\JM_클로드\지엔티_재료제안서\_extracted2\s08-img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8386" y="1188720"/>
            <a:ext cx="2498107" cy="28346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57200" y="411480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3단 이동서랍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457200" y="438912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화이트</a:t>
            </a:r>
            <a:endParaRPr lang="en-US" sz="1000" dirty="0"/>
          </a:p>
        </p:txBody>
      </p:sp>
      <p:pic>
        <p:nvPicPr>
          <p:cNvPr id="10" name="Image 1" descr="C:\Users\Administrator\Desktop\JM_클로드\지엔티_재료제안서\_extracted2\s08-img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33831" y="1188720"/>
            <a:ext cx="2465458" cy="283464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846320" y="411480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3단 이동서랍</a:t>
            </a:r>
            <a:endParaRPr lang="en-US" sz="1050" dirty="0"/>
          </a:p>
        </p:txBody>
      </p:sp>
      <p:sp>
        <p:nvSpPr>
          <p:cNvPr id="12" name="Text 8"/>
          <p:cNvSpPr/>
          <p:nvPr/>
        </p:nvSpPr>
        <p:spPr>
          <a:xfrm>
            <a:off x="4846320" y="438912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우드</a:t>
            </a:r>
            <a:endParaRPr lang="en-US" sz="1000" dirty="0"/>
          </a:p>
        </p:txBody>
      </p:sp>
      <p:sp>
        <p:nvSpPr>
          <p:cNvPr id="13" name="Shape 9"/>
          <p:cNvSpPr/>
          <p:nvPr/>
        </p:nvSpPr>
        <p:spPr>
          <a:xfrm>
            <a:off x="457200" y="4800600"/>
            <a:ext cx="8229600" cy="0"/>
          </a:xfrm>
          <a:prstGeom prst="line">
            <a:avLst/>
          </a:prstGeom>
          <a:noFill/>
          <a:ln w="6350">
            <a:solidFill>
              <a:srgbClr val="D8D2C5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457200" y="486460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제이엠건축인테리어  ·  지엔티 마감재 제안서</a:t>
            </a:r>
            <a:endParaRPr lang="en-US" sz="800" dirty="0"/>
          </a:p>
        </p:txBody>
      </p:sp>
      <p:sp>
        <p:nvSpPr>
          <p:cNvPr id="15" name="Text 11"/>
          <p:cNvSpPr/>
          <p:nvPr/>
        </p:nvSpPr>
        <p:spPr>
          <a:xfrm>
            <a:off x="6858000" y="486460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200" kern="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 / 23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365760" cy="365760"/>
          </a:xfrm>
          <a:prstGeom prst="ellipse">
            <a:avLst/>
          </a:prstGeom>
          <a:solidFill>
            <a:srgbClr val="8A7D63"/>
          </a:solidFill>
          <a:ln w="12700">
            <a:solidFill>
              <a:srgbClr val="8A7D6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840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960120" y="329184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8A7D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OFFICE  ·  STEEL CABINET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960120" y="530352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철제 캐비넷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57200" y="987552"/>
            <a:ext cx="365760" cy="27432"/>
          </a:xfrm>
          <a:prstGeom prst="rect">
            <a:avLst/>
          </a:prstGeom>
          <a:solidFill>
            <a:srgbClr val="8A7D63"/>
          </a:solidFill>
          <a:ln w="12700">
            <a:solidFill>
              <a:srgbClr val="8A7D6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188720"/>
            <a:ext cx="3840480" cy="2834640"/>
          </a:xfrm>
          <a:prstGeom prst="rect">
            <a:avLst/>
          </a:prstGeom>
          <a:solidFill>
            <a:srgbClr val="EFEAE0"/>
          </a:solidFill>
          <a:ln w="9525">
            <a:solidFill>
              <a:srgbClr val="BBB39E"/>
            </a:solidFill>
            <a:prstDash val="dash"/>
          </a:ln>
        </p:spPr>
      </p:sp>
      <p:sp>
        <p:nvSpPr>
          <p:cNvPr id="8" name="Text 6"/>
          <p:cNvSpPr/>
          <p:nvPr/>
        </p:nvSpPr>
        <p:spPr>
          <a:xfrm>
            <a:off x="457200" y="2377440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4A40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이미지 영역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2651760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(사진 삽입)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57200" y="411480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철제 캐비넷 · TYPE A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57200" y="438912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사이즈 / 사양 입력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846320" y="1188720"/>
            <a:ext cx="3840480" cy="2834640"/>
          </a:xfrm>
          <a:prstGeom prst="rect">
            <a:avLst/>
          </a:prstGeom>
          <a:solidFill>
            <a:srgbClr val="EFEAE0"/>
          </a:solidFill>
          <a:ln w="9525">
            <a:solidFill>
              <a:srgbClr val="BBB39E"/>
            </a:solidFill>
            <a:prstDash val="dash"/>
          </a:ln>
        </p:spPr>
      </p:sp>
      <p:sp>
        <p:nvSpPr>
          <p:cNvPr id="13" name="Text 11"/>
          <p:cNvSpPr/>
          <p:nvPr/>
        </p:nvSpPr>
        <p:spPr>
          <a:xfrm>
            <a:off x="4846320" y="2377440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4A40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이미지 영역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846320" y="2651760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(사진 삽입)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846320" y="411480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철제 캐비넷 · TYPE B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846320" y="438912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사이즈 / 사양 입력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57200" y="4800600"/>
            <a:ext cx="8229600" cy="0"/>
          </a:xfrm>
          <a:prstGeom prst="line">
            <a:avLst/>
          </a:prstGeom>
          <a:noFill/>
          <a:ln w="6350">
            <a:solidFill>
              <a:srgbClr val="D8D2C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486460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제이엠건축인테리어  ·  지엔티 마감재 제안서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6858000" y="486460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200" kern="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 / 23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365760" cy="365760"/>
          </a:xfrm>
          <a:prstGeom prst="ellipse">
            <a:avLst/>
          </a:prstGeom>
          <a:solidFill>
            <a:srgbClr val="8A7D63"/>
          </a:solidFill>
          <a:ln w="12700">
            <a:solidFill>
              <a:srgbClr val="8A7D6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840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960120" y="329184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8A7D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OFFICE  ·  WATERPROOF DOOR LOCK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960120" y="530352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방수도어락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57200" y="987552"/>
            <a:ext cx="365760" cy="27432"/>
          </a:xfrm>
          <a:prstGeom prst="rect">
            <a:avLst/>
          </a:prstGeom>
          <a:solidFill>
            <a:srgbClr val="8A7D63"/>
          </a:solidFill>
          <a:ln w="12700">
            <a:solidFill>
              <a:srgbClr val="8A7D6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188720"/>
            <a:ext cx="8229600" cy="2834640"/>
          </a:xfrm>
          <a:prstGeom prst="rect">
            <a:avLst/>
          </a:prstGeom>
          <a:solidFill>
            <a:srgbClr val="EFEAE0"/>
          </a:solidFill>
          <a:ln w="9525">
            <a:solidFill>
              <a:srgbClr val="BBB39E"/>
            </a:solidFill>
            <a:prstDash val="dash"/>
          </a:ln>
        </p:spPr>
      </p:sp>
      <p:sp>
        <p:nvSpPr>
          <p:cNvPr id="8" name="Text 6"/>
          <p:cNvSpPr/>
          <p:nvPr/>
        </p:nvSpPr>
        <p:spPr>
          <a:xfrm>
            <a:off x="457200" y="237744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4A40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이미지 영역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265176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(사진 삽입)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57200" y="411480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방수도어락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57200" y="43891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모델명 / 사양 입력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" y="4800600"/>
            <a:ext cx="8229600" cy="0"/>
          </a:xfrm>
          <a:prstGeom prst="line">
            <a:avLst/>
          </a:prstGeom>
          <a:noFill/>
          <a:ln w="6350">
            <a:solidFill>
              <a:srgbClr val="D8D2C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486460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제이엠건축인테리어  ·  지엔티 마감재 제안서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6858000" y="486460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200" kern="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 / 23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365760" cy="365760"/>
          </a:xfrm>
          <a:prstGeom prst="ellipse">
            <a:avLst/>
          </a:prstGeom>
          <a:solidFill>
            <a:srgbClr val="8A7D63"/>
          </a:solidFill>
          <a:ln w="12700">
            <a:solidFill>
              <a:srgbClr val="8A7D6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840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960120" y="329184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8A7D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OFFICE  ·  TASK CHAIR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960120" y="530352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사무용 의자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57200" y="987552"/>
            <a:ext cx="365760" cy="27432"/>
          </a:xfrm>
          <a:prstGeom prst="rect">
            <a:avLst/>
          </a:prstGeom>
          <a:solidFill>
            <a:srgbClr val="8A7D63"/>
          </a:solidFill>
          <a:ln w="12700">
            <a:solidFill>
              <a:srgbClr val="8A7D63"/>
            </a:solidFill>
            <a:prstDash val="solid"/>
          </a:ln>
        </p:spPr>
      </p:sp>
      <p:pic>
        <p:nvPicPr>
          <p:cNvPr id="7" name="Image 0" descr="C:\Users\Administrator\Desktop\JM_클로드\지엔티_재료제안서\_user_imgs\p10-1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730466" y="1188720"/>
            <a:ext cx="1683067" cy="28346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57200" y="411480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사무용 의자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457200" y="43891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메쉬 / 헤드레스트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457200" y="4800600"/>
            <a:ext cx="8229600" cy="0"/>
          </a:xfrm>
          <a:prstGeom prst="line">
            <a:avLst/>
          </a:prstGeom>
          <a:noFill/>
          <a:ln w="6350">
            <a:solidFill>
              <a:srgbClr val="D8D2C5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57200" y="486460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제이엠건축인테리어  ·  지엔티 마감재 제안서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6858000" y="486460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200" kern="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13 / 23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365760" cy="365760"/>
          </a:xfrm>
          <a:prstGeom prst="ellipse">
            <a:avLst/>
          </a:prstGeom>
          <a:solidFill>
            <a:srgbClr val="8A7D63"/>
          </a:solidFill>
          <a:ln w="12700">
            <a:solidFill>
              <a:srgbClr val="8A7D6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840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960120" y="329184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8A7D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OFFICE  ·  PARTITION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960120" y="530352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파티션 / 책상 스크린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57200" y="987552"/>
            <a:ext cx="365760" cy="27432"/>
          </a:xfrm>
          <a:prstGeom prst="rect">
            <a:avLst/>
          </a:prstGeom>
          <a:solidFill>
            <a:srgbClr val="8A7D63"/>
          </a:solidFill>
          <a:ln w="12700">
            <a:solidFill>
              <a:srgbClr val="8A7D63"/>
            </a:solidFill>
            <a:prstDash val="solid"/>
          </a:ln>
        </p:spPr>
      </p:sp>
      <p:pic>
        <p:nvPicPr>
          <p:cNvPr id="7" name="Image 0" descr="C:\Users\Administrator\Desktop\JM_클로드\지엔티_재료제안서\_user_imgs\p11-1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0836" y="1188720"/>
            <a:ext cx="2773208" cy="28346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57200" y="411480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자립형 파티션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457200" y="438912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패브릭 마감</a:t>
            </a:r>
            <a:endParaRPr lang="en-US" sz="1000" dirty="0"/>
          </a:p>
        </p:txBody>
      </p:sp>
      <p:pic>
        <p:nvPicPr>
          <p:cNvPr id="10" name="Image 1" descr="C:\Users\Administrator\Desktop\JM_클로드\지엔티_재료제안서\_user_imgs\p11-2.jpe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320" y="1685362"/>
            <a:ext cx="3840480" cy="2115676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846320" y="438912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책상 스크린</a:t>
            </a:r>
            <a:endParaRPr lang="en-US" sz="1050" dirty="0"/>
          </a:p>
        </p:txBody>
      </p:sp>
      <p:sp>
        <p:nvSpPr>
          <p:cNvPr id="12" name="Shape 8"/>
          <p:cNvSpPr/>
          <p:nvPr/>
        </p:nvSpPr>
        <p:spPr>
          <a:xfrm>
            <a:off x="457200" y="4800600"/>
            <a:ext cx="8229600" cy="0"/>
          </a:xfrm>
          <a:prstGeom prst="line">
            <a:avLst/>
          </a:prstGeom>
          <a:noFill/>
          <a:ln w="6350">
            <a:solidFill>
              <a:srgbClr val="D8D2C5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457200" y="486460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제이엠건축인테리어  ·  지엔티 마감재 제안서</a:t>
            </a:r>
            <a:endParaRPr lang="en-US" sz="800" dirty="0"/>
          </a:p>
        </p:txBody>
      </p:sp>
      <p:sp>
        <p:nvSpPr>
          <p:cNvPr id="14" name="Text 10"/>
          <p:cNvSpPr/>
          <p:nvPr/>
        </p:nvSpPr>
        <p:spPr>
          <a:xfrm>
            <a:off x="6858000" y="486460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200" kern="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14 / 23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365760" cy="365760"/>
          </a:xfrm>
          <a:prstGeom prst="ellipse">
            <a:avLst/>
          </a:prstGeom>
          <a:solidFill>
            <a:srgbClr val="8A7D63"/>
          </a:solidFill>
          <a:ln w="12700">
            <a:solidFill>
              <a:srgbClr val="8A7D6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840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960120" y="329184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8A7D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OFFICE  ·  CONFERENCE TABLE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960120" y="530352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회의테이블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57200" y="987552"/>
            <a:ext cx="365760" cy="27432"/>
          </a:xfrm>
          <a:prstGeom prst="rect">
            <a:avLst/>
          </a:prstGeom>
          <a:solidFill>
            <a:srgbClr val="8A7D63"/>
          </a:solidFill>
          <a:ln w="12700">
            <a:solidFill>
              <a:srgbClr val="8A7D63"/>
            </a:solidFill>
            <a:prstDash val="solid"/>
          </a:ln>
        </p:spPr>
      </p:sp>
      <p:pic>
        <p:nvPicPr>
          <p:cNvPr id="7" name="Image 0" descr="C:\Users\Administrator\Desktop\JM_클로드\지엔티_재료제안서\_user_imgs\p12-1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827564"/>
            <a:ext cx="3840480" cy="15569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57200" y="411480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덕트형 회의테이블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457200" y="438912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4000 × 1200 × 715 / 4구 2LAN</a:t>
            </a:r>
            <a:endParaRPr lang="en-US" sz="1000" dirty="0"/>
          </a:p>
        </p:txBody>
      </p:sp>
      <p:pic>
        <p:nvPicPr>
          <p:cNvPr id="10" name="Image 1" descr="C:\Users\Administrator\Desktop\JM_클로드\지엔티_재료제안서\_extracted2\s11-img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20393" y="1188720"/>
            <a:ext cx="3092335" cy="283464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846320" y="411480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연결회의용탁자 (상석 + 일반)</a:t>
            </a:r>
            <a:endParaRPr lang="en-US" sz="1050" dirty="0"/>
          </a:p>
        </p:txBody>
      </p:sp>
      <p:sp>
        <p:nvSpPr>
          <p:cNvPr id="12" name="Text 8"/>
          <p:cNvSpPr/>
          <p:nvPr/>
        </p:nvSpPr>
        <p:spPr>
          <a:xfrm>
            <a:off x="4846320" y="438912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1400 × 600 × 720</a:t>
            </a:r>
            <a:endParaRPr lang="en-US" sz="1000" dirty="0"/>
          </a:p>
        </p:txBody>
      </p:sp>
      <p:sp>
        <p:nvSpPr>
          <p:cNvPr id="13" name="Shape 9"/>
          <p:cNvSpPr/>
          <p:nvPr/>
        </p:nvSpPr>
        <p:spPr>
          <a:xfrm>
            <a:off x="457200" y="4800600"/>
            <a:ext cx="8229600" cy="0"/>
          </a:xfrm>
          <a:prstGeom prst="line">
            <a:avLst/>
          </a:prstGeom>
          <a:noFill/>
          <a:ln w="6350">
            <a:solidFill>
              <a:srgbClr val="D8D2C5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457200" y="486460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제이엠건축인테리어  ·  지엔티 마감재 제안서</a:t>
            </a:r>
            <a:endParaRPr lang="en-US" sz="800" dirty="0"/>
          </a:p>
        </p:txBody>
      </p:sp>
      <p:sp>
        <p:nvSpPr>
          <p:cNvPr id="15" name="Text 11"/>
          <p:cNvSpPr/>
          <p:nvPr/>
        </p:nvSpPr>
        <p:spPr>
          <a:xfrm>
            <a:off x="6858000" y="486460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200" kern="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15 / 23</a:t>
            </a:r>
            <a:endParaRPr lang="en-US" sz="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365760" cy="365760"/>
          </a:xfrm>
          <a:prstGeom prst="ellipse">
            <a:avLst/>
          </a:prstGeom>
          <a:solidFill>
            <a:srgbClr val="8A7D63"/>
          </a:solidFill>
          <a:ln w="12700">
            <a:solidFill>
              <a:srgbClr val="8A7D6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840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960120" y="329184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8A7D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OFFICE  ·  CONFERENCE CHAIR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960120" y="530352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회의의자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57200" y="987552"/>
            <a:ext cx="365760" cy="27432"/>
          </a:xfrm>
          <a:prstGeom prst="rect">
            <a:avLst/>
          </a:prstGeom>
          <a:solidFill>
            <a:srgbClr val="8A7D63"/>
          </a:solidFill>
          <a:ln w="12700">
            <a:solidFill>
              <a:srgbClr val="8A7D63"/>
            </a:solidFill>
            <a:prstDash val="solid"/>
          </a:ln>
        </p:spPr>
      </p:sp>
      <p:pic>
        <p:nvPicPr>
          <p:cNvPr id="7" name="Image 0" descr="C:\Users\Administrator\Desktop\JM_클로드\지엔티_재료제안서\_user_imgs\p13-1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6610" y="1188720"/>
            <a:ext cx="2681659" cy="28346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57200" y="411480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회의의자 (팔걸이)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457200" y="438912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605 × 520 × 850</a:t>
            </a:r>
            <a:endParaRPr lang="en-US" sz="1000" dirty="0"/>
          </a:p>
        </p:txBody>
      </p:sp>
      <p:pic>
        <p:nvPicPr>
          <p:cNvPr id="10" name="Image 1" descr="C:\Users\Administrator\Desktop\JM_클로드\지엔티_재료제안서\_extracted2\s12-img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83785" y="1188720"/>
            <a:ext cx="2365551" cy="283464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846320" y="411480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회의용의자</a:t>
            </a:r>
            <a:endParaRPr lang="en-US" sz="1050" dirty="0"/>
          </a:p>
        </p:txBody>
      </p:sp>
      <p:sp>
        <p:nvSpPr>
          <p:cNvPr id="12" name="Text 8"/>
          <p:cNvSpPr/>
          <p:nvPr/>
        </p:nvSpPr>
        <p:spPr>
          <a:xfrm>
            <a:off x="4846320" y="438912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590 × 630 × 930</a:t>
            </a:r>
            <a:endParaRPr lang="en-US" sz="1000" dirty="0"/>
          </a:p>
        </p:txBody>
      </p:sp>
      <p:sp>
        <p:nvSpPr>
          <p:cNvPr id="13" name="Shape 9"/>
          <p:cNvSpPr/>
          <p:nvPr/>
        </p:nvSpPr>
        <p:spPr>
          <a:xfrm>
            <a:off x="457200" y="4800600"/>
            <a:ext cx="8229600" cy="0"/>
          </a:xfrm>
          <a:prstGeom prst="line">
            <a:avLst/>
          </a:prstGeom>
          <a:noFill/>
          <a:ln w="6350">
            <a:solidFill>
              <a:srgbClr val="D8D2C5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457200" y="486460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제이엠건축인테리어  ·  지엔티 마감재 제안서</a:t>
            </a:r>
            <a:endParaRPr lang="en-US" sz="800" dirty="0"/>
          </a:p>
        </p:txBody>
      </p:sp>
      <p:sp>
        <p:nvSpPr>
          <p:cNvPr id="15" name="Text 11"/>
          <p:cNvSpPr/>
          <p:nvPr/>
        </p:nvSpPr>
        <p:spPr>
          <a:xfrm>
            <a:off x="6858000" y="486460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200" kern="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16 / 23</a:t>
            </a:r>
            <a:endParaRPr lang="en-US" sz="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365760" cy="365760"/>
          </a:xfrm>
          <a:prstGeom prst="ellipse">
            <a:avLst/>
          </a:prstGeom>
          <a:solidFill>
            <a:srgbClr val="8A7D63"/>
          </a:solidFill>
          <a:ln w="12700">
            <a:solidFill>
              <a:srgbClr val="8A7D6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840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960120" y="329184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8A7D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OFFICE  ·  LOUNGE TABLE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960120" y="530352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휴게실 테이블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57200" y="987552"/>
            <a:ext cx="365760" cy="27432"/>
          </a:xfrm>
          <a:prstGeom prst="rect">
            <a:avLst/>
          </a:prstGeom>
          <a:solidFill>
            <a:srgbClr val="8A7D63"/>
          </a:solidFill>
          <a:ln w="12700">
            <a:solidFill>
              <a:srgbClr val="8A7D63"/>
            </a:solidFill>
            <a:prstDash val="solid"/>
          </a:ln>
        </p:spPr>
      </p:sp>
      <p:pic>
        <p:nvPicPr>
          <p:cNvPr id="7" name="Image 0" descr="C:\Users\Administrator\Desktop\JM_클로드\지엔티_재료제안서\_user_imgs\p14-1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296" y="1188720"/>
            <a:ext cx="3150288" cy="28346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57200" y="411480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휴게실 테이블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457200" y="438912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지름 700 × 720</a:t>
            </a:r>
            <a:endParaRPr lang="en-US" sz="1000" dirty="0"/>
          </a:p>
        </p:txBody>
      </p:sp>
      <p:pic>
        <p:nvPicPr>
          <p:cNvPr id="10" name="Image 1" descr="C:\Users\Administrator\Desktop\JM_클로드\지엔티_재료제안서\_user_imgs\p14-2.jpe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62880" y="1188720"/>
            <a:ext cx="2407360" cy="283464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846320" y="411480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휴게실 테이블</a:t>
            </a:r>
            <a:endParaRPr lang="en-US" sz="1050" dirty="0"/>
          </a:p>
        </p:txBody>
      </p:sp>
      <p:sp>
        <p:nvSpPr>
          <p:cNvPr id="12" name="Text 8"/>
          <p:cNvSpPr/>
          <p:nvPr/>
        </p:nvSpPr>
        <p:spPr>
          <a:xfrm>
            <a:off x="4846320" y="438912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지름 700 × 720</a:t>
            </a:r>
            <a:endParaRPr lang="en-US" sz="1000" dirty="0"/>
          </a:p>
        </p:txBody>
      </p:sp>
      <p:sp>
        <p:nvSpPr>
          <p:cNvPr id="13" name="Shape 9"/>
          <p:cNvSpPr/>
          <p:nvPr/>
        </p:nvSpPr>
        <p:spPr>
          <a:xfrm>
            <a:off x="457200" y="4800600"/>
            <a:ext cx="8229600" cy="0"/>
          </a:xfrm>
          <a:prstGeom prst="line">
            <a:avLst/>
          </a:prstGeom>
          <a:noFill/>
          <a:ln w="6350">
            <a:solidFill>
              <a:srgbClr val="D8D2C5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457200" y="486460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제이엠건축인테리어  ·  지엔티 마감재 제안서</a:t>
            </a:r>
            <a:endParaRPr lang="en-US" sz="800" dirty="0"/>
          </a:p>
        </p:txBody>
      </p:sp>
      <p:sp>
        <p:nvSpPr>
          <p:cNvPr id="15" name="Text 11"/>
          <p:cNvSpPr/>
          <p:nvPr/>
        </p:nvSpPr>
        <p:spPr>
          <a:xfrm>
            <a:off x="6858000" y="486460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200" kern="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17 / 23</a:t>
            </a:r>
            <a:endParaRPr lang="en-US" sz="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365760" cy="365760"/>
          </a:xfrm>
          <a:prstGeom prst="ellipse">
            <a:avLst/>
          </a:prstGeom>
          <a:solidFill>
            <a:srgbClr val="8A7D63"/>
          </a:solidFill>
          <a:ln w="12700">
            <a:solidFill>
              <a:srgbClr val="8A7D6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840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960120" y="329184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8A7D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OFFICE  ·  LOUNGE CHAIR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960120" y="530352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휴게실 의자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57200" y="987552"/>
            <a:ext cx="365760" cy="27432"/>
          </a:xfrm>
          <a:prstGeom prst="rect">
            <a:avLst/>
          </a:prstGeom>
          <a:solidFill>
            <a:srgbClr val="8A7D63"/>
          </a:solidFill>
          <a:ln w="12700">
            <a:solidFill>
              <a:srgbClr val="8A7D63"/>
            </a:solidFill>
            <a:prstDash val="solid"/>
          </a:ln>
        </p:spPr>
      </p:sp>
      <p:pic>
        <p:nvPicPr>
          <p:cNvPr id="7" name="Image 0" descr="C:\Users\Administrator\Desktop\JM_클로드\지엔티_재료제안서\_user_imgs\p15-1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210224"/>
            <a:ext cx="3840480" cy="279163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57200" y="411480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휴게실 의자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457200" y="438912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우드백 / 패브릭</a:t>
            </a:r>
            <a:endParaRPr lang="en-US" sz="1000" dirty="0"/>
          </a:p>
        </p:txBody>
      </p:sp>
      <p:pic>
        <p:nvPicPr>
          <p:cNvPr id="10" name="Image 1" descr="C:\Users\Administrator\Desktop\JM_클로드\지엔티_재료제안서\_user_imgs\p15-2.jpe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320" y="1320314"/>
            <a:ext cx="3840480" cy="257145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846320" y="411480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휴게실 의자</a:t>
            </a:r>
            <a:endParaRPr lang="en-US" sz="1050" dirty="0"/>
          </a:p>
        </p:txBody>
      </p:sp>
      <p:sp>
        <p:nvSpPr>
          <p:cNvPr id="12" name="Text 8"/>
          <p:cNvSpPr/>
          <p:nvPr/>
        </p:nvSpPr>
        <p:spPr>
          <a:xfrm>
            <a:off x="4846320" y="438912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스틸 프레임 / 패브릭</a:t>
            </a:r>
            <a:endParaRPr lang="en-US" sz="1000" dirty="0"/>
          </a:p>
        </p:txBody>
      </p:sp>
      <p:sp>
        <p:nvSpPr>
          <p:cNvPr id="13" name="Shape 9"/>
          <p:cNvSpPr/>
          <p:nvPr/>
        </p:nvSpPr>
        <p:spPr>
          <a:xfrm>
            <a:off x="457200" y="4800600"/>
            <a:ext cx="8229600" cy="0"/>
          </a:xfrm>
          <a:prstGeom prst="line">
            <a:avLst/>
          </a:prstGeom>
          <a:noFill/>
          <a:ln w="6350">
            <a:solidFill>
              <a:srgbClr val="D8D2C5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457200" y="486460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제이엠건축인테리어  ·  지엔티 마감재 제안서</a:t>
            </a:r>
            <a:endParaRPr lang="en-US" sz="800" dirty="0"/>
          </a:p>
        </p:txBody>
      </p:sp>
      <p:sp>
        <p:nvSpPr>
          <p:cNvPr id="15" name="Text 11"/>
          <p:cNvSpPr/>
          <p:nvPr/>
        </p:nvSpPr>
        <p:spPr>
          <a:xfrm>
            <a:off x="6858000" y="486460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200" kern="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18 / 23</a:t>
            </a:r>
            <a:endParaRPr lang="en-US" sz="8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365760" cy="365760"/>
          </a:xfrm>
          <a:prstGeom prst="ellipse">
            <a:avLst/>
          </a:prstGeom>
          <a:solidFill>
            <a:srgbClr val="8A7D63"/>
          </a:solidFill>
          <a:ln w="12700">
            <a:solidFill>
              <a:srgbClr val="8A7D6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840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05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960120" y="329184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8A7D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LIGHTING  ·  LED PANEL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960120" y="530352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LED 평판조명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57200" y="987552"/>
            <a:ext cx="365760" cy="27432"/>
          </a:xfrm>
          <a:prstGeom prst="rect">
            <a:avLst/>
          </a:prstGeom>
          <a:solidFill>
            <a:srgbClr val="8A7D63"/>
          </a:solidFill>
          <a:ln w="12700">
            <a:solidFill>
              <a:srgbClr val="8A7D63"/>
            </a:solidFill>
            <a:prstDash val="solid"/>
          </a:ln>
        </p:spPr>
      </p:sp>
      <p:pic>
        <p:nvPicPr>
          <p:cNvPr id="7" name="Image 0" descr="C:\Users\Administrator\Desktop\JM_클로드\지엔티_재료제안서\_user_imgs\p16-1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76025" y="1188720"/>
            <a:ext cx="2791950" cy="28346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57200" y="411480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LED 평판조명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457200" y="43891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천장 매립형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457200" y="4800600"/>
            <a:ext cx="8229600" cy="0"/>
          </a:xfrm>
          <a:prstGeom prst="line">
            <a:avLst/>
          </a:prstGeom>
          <a:noFill/>
          <a:ln w="6350">
            <a:solidFill>
              <a:srgbClr val="D8D2C5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57200" y="486460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제이엠건축인테리어  ·  지엔티 마감재 제안서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6858000" y="486460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200" kern="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19 / 23</a:t>
            </a:r>
            <a:endParaRPr lang="en-US" sz="8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365760" cy="365760"/>
          </a:xfrm>
          <a:prstGeom prst="ellipse">
            <a:avLst/>
          </a:prstGeom>
          <a:solidFill>
            <a:srgbClr val="8A7D63"/>
          </a:solidFill>
          <a:ln w="12700">
            <a:solidFill>
              <a:srgbClr val="8A7D6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840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06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960120" y="329184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8A7D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APPLIANCE  ·  REFRIGERATOR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960120" y="530352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냉장고</a:t>
            </a:r>
            <a:pPr indent="0" marL="0">
              <a:buNone/>
            </a:pPr>
            <a:r>
              <a:rPr lang="en-US" sz="180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:  </a:t>
            </a:r>
            <a:pPr indent="0" marL="0">
              <a:buNone/>
            </a:pPr>
            <a:r>
              <a:rPr lang="en-US" sz="18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LG전자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57200" y="987552"/>
            <a:ext cx="365760" cy="27432"/>
          </a:xfrm>
          <a:prstGeom prst="rect">
            <a:avLst/>
          </a:prstGeom>
          <a:solidFill>
            <a:srgbClr val="8A7D63"/>
          </a:solidFill>
          <a:ln w="12700">
            <a:solidFill>
              <a:srgbClr val="8A7D63"/>
            </a:solidFill>
            <a:prstDash val="solid"/>
          </a:ln>
        </p:spPr>
      </p:sp>
      <p:pic>
        <p:nvPicPr>
          <p:cNvPr id="7" name="Image 0" descr="C:\Users\Administrator\Desktop\JM_클로드\지엔티_재료제안서\_user_imgs\p17-1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83985" y="1188720"/>
            <a:ext cx="1861230" cy="34747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937760" y="233172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LG전자 507L 2도어 냉장고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4937760" y="278892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모델명  ·  B502S53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4937760" y="315468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780 × 730 × 1,800 mm  /  실버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457200" y="4800600"/>
            <a:ext cx="8229600" cy="0"/>
          </a:xfrm>
          <a:prstGeom prst="line">
            <a:avLst/>
          </a:prstGeom>
          <a:noFill/>
          <a:ln w="6350">
            <a:solidFill>
              <a:srgbClr val="D8D2C5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486460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제이엠건축인테리어  ·  지엔티 마감재 제안서</a:t>
            </a:r>
            <a:endParaRPr lang="en-US" sz="800" dirty="0"/>
          </a:p>
        </p:txBody>
      </p:sp>
      <p:sp>
        <p:nvSpPr>
          <p:cNvPr id="13" name="Text 10"/>
          <p:cNvSpPr/>
          <p:nvPr/>
        </p:nvSpPr>
        <p:spPr>
          <a:xfrm>
            <a:off x="6858000" y="486460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200" kern="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 / 23</a:t>
            </a:r>
            <a:endParaRPr lang="en-US" sz="8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365760" cy="365760"/>
          </a:xfrm>
          <a:prstGeom prst="ellipse">
            <a:avLst/>
          </a:prstGeom>
          <a:solidFill>
            <a:srgbClr val="8A7D63"/>
          </a:solidFill>
          <a:ln w="12700">
            <a:solidFill>
              <a:srgbClr val="8A7D6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840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06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960120" y="329184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8A7D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AV  ·  PROJECTOR &amp; SCREEN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960120" y="530352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빔프로젝트  ·  빔스크린</a:t>
            </a:r>
            <a:pPr indent="0" marL="0">
              <a:buNone/>
            </a:pPr>
            <a:r>
              <a:rPr lang="en-US" sz="180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:  </a:t>
            </a:r>
            <a:pPr indent="0" marL="0">
              <a:buNone/>
            </a:pPr>
            <a:r>
              <a:rPr lang="en-US" sz="18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EFUN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57200" y="987552"/>
            <a:ext cx="365760" cy="27432"/>
          </a:xfrm>
          <a:prstGeom prst="rect">
            <a:avLst/>
          </a:prstGeom>
          <a:solidFill>
            <a:srgbClr val="8A7D63"/>
          </a:solidFill>
          <a:ln w="12700">
            <a:solidFill>
              <a:srgbClr val="8A7D63"/>
            </a:solidFill>
            <a:prstDash val="solid"/>
          </a:ln>
        </p:spPr>
      </p:sp>
      <p:pic>
        <p:nvPicPr>
          <p:cNvPr id="7" name="Image 0" descr="C:\Users\Administrator\Desktop\JM_클로드\지엔티_재료제안서\_user_imgs\p18-1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3923" y="1188720"/>
            <a:ext cx="3047034" cy="25603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57200" y="384048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EL-YLK606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457200" y="411480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3LCD LASER 4K UHD  ·  HDR/HLG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457200" y="438912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1.6X ZOOM  ·  16W 스피커</a:t>
            </a:r>
            <a:endParaRPr lang="en-US" sz="1000" dirty="0"/>
          </a:p>
        </p:txBody>
      </p:sp>
      <p:pic>
        <p:nvPicPr>
          <p:cNvPr id="11" name="Image 1" descr="C:\Users\Administrator\Desktop\JM_클로드\지엔티_재료제안서\_user_imgs\p18-2.jpe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6338" y="1188720"/>
            <a:ext cx="3560445" cy="283464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846320" y="411480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빔스크린 (성지 울트라 매트 전동 매립 스크린)</a:t>
            </a:r>
            <a:endParaRPr lang="en-US" sz="1050" dirty="0"/>
          </a:p>
        </p:txBody>
      </p:sp>
      <p:sp>
        <p:nvSpPr>
          <p:cNvPr id="13" name="Text 9"/>
          <p:cNvSpPr/>
          <p:nvPr/>
        </p:nvSpPr>
        <p:spPr>
          <a:xfrm>
            <a:off x="4846320" y="438912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120"  (2400 × 1800)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457200" y="4800600"/>
            <a:ext cx="8229600" cy="0"/>
          </a:xfrm>
          <a:prstGeom prst="line">
            <a:avLst/>
          </a:prstGeom>
          <a:noFill/>
          <a:ln w="6350">
            <a:solidFill>
              <a:srgbClr val="D8D2C5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457200" y="486460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제이엠건축인테리어  ·  지엔티 마감재 제안서</a:t>
            </a:r>
            <a:endParaRPr lang="en-US" sz="800" dirty="0"/>
          </a:p>
        </p:txBody>
      </p:sp>
      <p:sp>
        <p:nvSpPr>
          <p:cNvPr id="16" name="Text 12"/>
          <p:cNvSpPr/>
          <p:nvPr/>
        </p:nvSpPr>
        <p:spPr>
          <a:xfrm>
            <a:off x="6858000" y="486460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200" kern="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21 / 23</a:t>
            </a:r>
            <a:endParaRPr lang="en-US" sz="8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365760" cy="365760"/>
          </a:xfrm>
          <a:prstGeom prst="ellipse">
            <a:avLst/>
          </a:prstGeom>
          <a:solidFill>
            <a:srgbClr val="8A7D63"/>
          </a:solidFill>
          <a:ln w="12700">
            <a:solidFill>
              <a:srgbClr val="8A7D6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840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06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960120" y="329184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8A7D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AV  ·  SPEAKER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960120" y="530352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스피커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57200" y="987552"/>
            <a:ext cx="365760" cy="27432"/>
          </a:xfrm>
          <a:prstGeom prst="rect">
            <a:avLst/>
          </a:prstGeom>
          <a:solidFill>
            <a:srgbClr val="8A7D63"/>
          </a:solidFill>
          <a:ln w="12700">
            <a:solidFill>
              <a:srgbClr val="8A7D6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188720"/>
            <a:ext cx="8229600" cy="2834640"/>
          </a:xfrm>
          <a:prstGeom prst="rect">
            <a:avLst/>
          </a:prstGeom>
          <a:solidFill>
            <a:srgbClr val="EFEAE0"/>
          </a:solidFill>
          <a:ln w="9525">
            <a:solidFill>
              <a:srgbClr val="BBB39E"/>
            </a:solidFill>
            <a:prstDash val="dash"/>
          </a:ln>
        </p:spPr>
      </p:sp>
      <p:sp>
        <p:nvSpPr>
          <p:cNvPr id="8" name="Text 6"/>
          <p:cNvSpPr/>
          <p:nvPr/>
        </p:nvSpPr>
        <p:spPr>
          <a:xfrm>
            <a:off x="457200" y="237744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4A40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이미지 영역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265176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(사진 삽입)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57200" y="411480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스피커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57200" y="43891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모델명 / 사양 입력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" y="4800600"/>
            <a:ext cx="8229600" cy="0"/>
          </a:xfrm>
          <a:prstGeom prst="line">
            <a:avLst/>
          </a:prstGeom>
          <a:noFill/>
          <a:ln w="6350">
            <a:solidFill>
              <a:srgbClr val="D8D2C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486460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제이엠건축인테리어  ·  지엔티 마감재 제안서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6858000" y="486460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200" kern="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22 / 23</a:t>
            </a:r>
            <a:endParaRPr lang="en-US" sz="8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7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0"/>
            <a:ext cx="3200400" cy="5143500"/>
          </a:xfrm>
          <a:prstGeom prst="rect">
            <a:avLst/>
          </a:prstGeom>
          <a:solidFill>
            <a:srgbClr val="4A4030"/>
          </a:solidFill>
          <a:ln w="12700">
            <a:solidFill>
              <a:srgbClr val="4A403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0" y="548640"/>
            <a:ext cx="2743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b="1" spc="600" kern="0" dirty="0">
                <a:solidFill>
                  <a:srgbClr val="C2B3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MATERIAL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b="1" spc="600" kern="0" dirty="0">
                <a:solidFill>
                  <a:srgbClr val="C2B3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PROPOSAL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0" y="44348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500" kern="0" dirty="0">
                <a:solidFill>
                  <a:srgbClr val="C2B3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END  OF  DOCUMENT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173736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800" kern="0" dirty="0">
                <a:solidFill>
                  <a:srgbClr val="8A7D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THANK  YOU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2103120"/>
            <a:ext cx="5486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감사합니다</a:t>
            </a:r>
            <a:endParaRPr lang="en-US" sz="4800" dirty="0"/>
          </a:p>
        </p:txBody>
      </p:sp>
      <p:sp>
        <p:nvSpPr>
          <p:cNvPr id="7" name="Shape 5"/>
          <p:cNvSpPr/>
          <p:nvPr/>
        </p:nvSpPr>
        <p:spPr>
          <a:xfrm>
            <a:off x="457200" y="3063240"/>
            <a:ext cx="548640" cy="36576"/>
          </a:xfrm>
          <a:prstGeom prst="rect">
            <a:avLst/>
          </a:prstGeom>
          <a:solidFill>
            <a:srgbClr val="8A7D63"/>
          </a:solidFill>
          <a:ln w="12700">
            <a:solidFill>
              <a:srgbClr val="8A7D6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333756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400" kern="0" dirty="0">
                <a:solidFill>
                  <a:srgbClr val="8A7D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PROPOSED BY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457200" y="356616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4A40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제이엠건축인테리어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4800600"/>
            <a:ext cx="5212080" cy="0"/>
          </a:xfrm>
          <a:prstGeom prst="line">
            <a:avLst/>
          </a:prstGeom>
          <a:noFill/>
          <a:ln w="6350">
            <a:solidFill>
              <a:srgbClr val="D8D2C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486460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제이엠건축인테리어  ·  지엔티 마감재 제안서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937760" y="4864608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200" kern="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23 / 23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지엔티 마감재제안서</dc:title>
  <dc:subject>PptxGenJS Presentation</dc:subject>
  <dc:creator>제이엠건축인테리어</dc:creator>
  <cp:lastModifiedBy>제이엠건축인테리어</cp:lastModifiedBy>
  <cp:revision>1</cp:revision>
  <dcterms:created xsi:type="dcterms:W3CDTF">2026-05-27T02:26:01Z</dcterms:created>
  <dcterms:modified xsi:type="dcterms:W3CDTF">2026-05-27T02:26:01Z</dcterms:modified>
</cp:coreProperties>
</file>