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0"/>
            <a:ext cx="11868912" cy="731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73152"/>
            <a:ext cx="11868912" cy="36576"/>
          </a:xfrm>
          <a:prstGeom prst="rect">
            <a:avLst/>
          </a:prstGeom>
          <a:solidFill>
            <a:srgbClr val="F9A825"/>
          </a:solidFill>
          <a:ln/>
        </p:spPr>
      </p:sp>
      <p:pic>
        <p:nvPicPr>
          <p:cNvPr id="6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457200"/>
            <a:ext cx="3291840" cy="11064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33172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공사실적 및 지명원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594360" y="324612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CONSTRUCTION RECORD &amp; NOMINATION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3730752"/>
            <a:ext cx="5029200" cy="457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3895344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린데코리아㈜ 창원공장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공무 / 고객지원팀 사무실 인테리어공사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" y="4864608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제안사 : 제이엠건축인테리어주식회사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5230368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작성일 : 2026년 3월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89520" y="164592"/>
            <a:ext cx="4389120" cy="6492240"/>
          </a:xfrm>
          <a:prstGeom prst="rect">
            <a:avLst/>
          </a:prstGeom>
          <a:solidFill>
            <a:srgbClr val="F1F8F1"/>
          </a:solidFill>
          <a:ln w="10160">
            <a:solidFill>
              <a:srgbClr val="81C78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589520" y="164592"/>
            <a:ext cx="4389120" cy="47548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5" name="Text 12"/>
          <p:cNvSpPr/>
          <p:nvPr/>
        </p:nvSpPr>
        <p:spPr>
          <a:xfrm>
            <a:off x="7589520" y="18288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COMPANY INFO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635240" y="713232"/>
            <a:ext cx="429768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7754112" y="78638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 호 명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9189720" y="78638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1481328"/>
            <a:ext cx="4297680" cy="68580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0" name="Text 17"/>
          <p:cNvSpPr/>
          <p:nvPr/>
        </p:nvSpPr>
        <p:spPr>
          <a:xfrm>
            <a:off x="7754112" y="15544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 표 자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9189720" y="15544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이소연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2249424"/>
            <a:ext cx="429768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0"/>
          <p:cNvSpPr/>
          <p:nvPr/>
        </p:nvSpPr>
        <p:spPr>
          <a:xfrm>
            <a:off x="7754112" y="2322576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사업자번호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9189720" y="2322576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168-86-03200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635240" y="3017520"/>
            <a:ext cx="4297680" cy="68580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6" name="Text 23"/>
          <p:cNvSpPr/>
          <p:nvPr/>
        </p:nvSpPr>
        <p:spPr>
          <a:xfrm>
            <a:off x="7754112" y="309067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소 재 지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9189720" y="309067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경상남도 창원시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7635240" y="3785616"/>
            <a:ext cx="429768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6"/>
          <p:cNvSpPr/>
          <p:nvPr/>
        </p:nvSpPr>
        <p:spPr>
          <a:xfrm>
            <a:off x="7754112" y="385876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    화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9189720" y="385876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055-252-0611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7635240" y="4553712"/>
            <a:ext cx="4297680" cy="68580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32" name="Text 29"/>
          <p:cNvSpPr/>
          <p:nvPr/>
        </p:nvSpPr>
        <p:spPr>
          <a:xfrm>
            <a:off x="7754112" y="462686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 메 일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9189720" y="462686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jmworks0612@naver.com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7635240" y="5321808"/>
            <a:ext cx="429768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2"/>
          <p:cNvSpPr/>
          <p:nvPr/>
        </p:nvSpPr>
        <p:spPr>
          <a:xfrm>
            <a:off x="7754112" y="53949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홈페이지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9189720" y="53949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jminterior.co.kr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  차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Contents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298448"/>
            <a:ext cx="5440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298448"/>
            <a:ext cx="73152" cy="14173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Shape 8"/>
          <p:cNvSpPr/>
          <p:nvPr/>
        </p:nvSpPr>
        <p:spPr>
          <a:xfrm>
            <a:off x="713232" y="1618488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16184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63040" y="15544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회사 개요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463040" y="2048256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Company Overview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46520" y="1298448"/>
            <a:ext cx="5440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46520" y="1298448"/>
            <a:ext cx="73152" cy="14173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7" name="Shape 14"/>
          <p:cNvSpPr/>
          <p:nvPr/>
        </p:nvSpPr>
        <p:spPr>
          <a:xfrm>
            <a:off x="6611112" y="1618488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11112" y="16184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360920" y="15544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수행 역량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360920" y="2048256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Capabilities &amp; Expertise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" y="2926080"/>
            <a:ext cx="5440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" y="2926080"/>
            <a:ext cx="73152" cy="14173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3" name="Shape 20"/>
          <p:cNvSpPr/>
          <p:nvPr/>
        </p:nvSpPr>
        <p:spPr>
          <a:xfrm>
            <a:off x="713232" y="3246120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" y="324612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463040" y="31821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2024년 주요 공사실적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463040" y="3675888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2024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446520" y="2926080"/>
            <a:ext cx="5440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446520" y="2926080"/>
            <a:ext cx="73152" cy="14173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9" name="Shape 26"/>
          <p:cNvSpPr/>
          <p:nvPr/>
        </p:nvSpPr>
        <p:spPr>
          <a:xfrm>
            <a:off x="6611112" y="3246120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611112" y="324612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360920" y="31821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2025년 주요 공사실적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7360920" y="3675888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2025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48640" y="4553712"/>
            <a:ext cx="5440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48640" y="4553712"/>
            <a:ext cx="73152" cy="14173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5" name="Shape 32"/>
          <p:cNvSpPr/>
          <p:nvPr/>
        </p:nvSpPr>
        <p:spPr>
          <a:xfrm>
            <a:off x="713232" y="4873752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13232" y="487375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463040" y="480974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2026년 공사실적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1463040" y="530352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Projects in 2026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446520" y="4553712"/>
            <a:ext cx="5440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446520" y="4553712"/>
            <a:ext cx="73152" cy="14173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1" name="Shape 38"/>
          <p:cNvSpPr/>
          <p:nvPr/>
        </p:nvSpPr>
        <p:spPr>
          <a:xfrm>
            <a:off x="6611112" y="4873752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611112" y="487375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06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7360920" y="480974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공종별 실적 요약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7360920" y="530352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Project Summary by Type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6" name="Text 43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  회사 개요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Company Overview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98448"/>
            <a:ext cx="4114800" cy="4983480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298448"/>
            <a:ext cx="4114800" cy="54864"/>
          </a:xfrm>
          <a:prstGeom prst="rect">
            <a:avLst/>
          </a:prstGeom>
          <a:solidFill>
            <a:srgbClr val="1B5E20"/>
          </a:solidFill>
          <a:ln/>
        </p:spPr>
      </p:sp>
      <p:pic>
        <p:nvPicPr>
          <p:cNvPr id="11" name="Image 1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1627632"/>
            <a:ext cx="3657600" cy="12252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188720" y="3566160"/>
            <a:ext cx="2651760" cy="4572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374904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사무실 인테리어 전문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48640" y="4224528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경남권 최다 레퍼런스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48640" y="4700016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A/S 하자 보증 1년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754880" y="1353312"/>
            <a:ext cx="7269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4754880" y="1490472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8" name="Text 14"/>
          <p:cNvSpPr/>
          <p:nvPr/>
        </p:nvSpPr>
        <p:spPr>
          <a:xfrm>
            <a:off x="4919472" y="14173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 호 명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876288" y="14173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754880" y="1920240"/>
            <a:ext cx="7269480" cy="512064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1" name="Shape 17"/>
          <p:cNvSpPr/>
          <p:nvPr/>
        </p:nvSpPr>
        <p:spPr>
          <a:xfrm>
            <a:off x="4754880" y="2057400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2" name="Text 18"/>
          <p:cNvSpPr/>
          <p:nvPr/>
        </p:nvSpPr>
        <p:spPr>
          <a:xfrm>
            <a:off x="4919472" y="19842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 표 자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876288" y="198424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이소연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754880" y="2487168"/>
            <a:ext cx="7269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1"/>
          <p:cNvSpPr/>
          <p:nvPr/>
        </p:nvSpPr>
        <p:spPr>
          <a:xfrm>
            <a:off x="4754880" y="2624328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6" name="Text 22"/>
          <p:cNvSpPr/>
          <p:nvPr/>
        </p:nvSpPr>
        <p:spPr>
          <a:xfrm>
            <a:off x="4919472" y="25511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 립 일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6876288" y="255117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2020년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754880" y="3054096"/>
            <a:ext cx="7269480" cy="512064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9" name="Shape 25"/>
          <p:cNvSpPr/>
          <p:nvPr/>
        </p:nvSpPr>
        <p:spPr>
          <a:xfrm>
            <a:off x="4754880" y="3191256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0" name="Text 26"/>
          <p:cNvSpPr/>
          <p:nvPr/>
        </p:nvSpPr>
        <p:spPr>
          <a:xfrm>
            <a:off x="4919472" y="311810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사업분야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6876288" y="311810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실내건축 인테리어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4754880" y="3621024"/>
            <a:ext cx="7269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9"/>
          <p:cNvSpPr/>
          <p:nvPr/>
        </p:nvSpPr>
        <p:spPr>
          <a:xfrm>
            <a:off x="4754880" y="3758184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4" name="Text 30"/>
          <p:cNvSpPr/>
          <p:nvPr/>
        </p:nvSpPr>
        <p:spPr>
          <a:xfrm>
            <a:off x="4919472" y="36850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사업자번호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6876288" y="368503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168-86-03200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4754880" y="4187952"/>
            <a:ext cx="7269480" cy="512064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37" name="Shape 33"/>
          <p:cNvSpPr/>
          <p:nvPr/>
        </p:nvSpPr>
        <p:spPr>
          <a:xfrm>
            <a:off x="4754880" y="4325112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8" name="Text 34"/>
          <p:cNvSpPr/>
          <p:nvPr/>
        </p:nvSpPr>
        <p:spPr>
          <a:xfrm>
            <a:off x="4919472" y="42519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    화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6876288" y="425196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055-252-0611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4754880" y="4754880"/>
            <a:ext cx="7269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7"/>
          <p:cNvSpPr/>
          <p:nvPr/>
        </p:nvSpPr>
        <p:spPr>
          <a:xfrm>
            <a:off x="4754880" y="4892040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2" name="Text 38"/>
          <p:cNvSpPr/>
          <p:nvPr/>
        </p:nvSpPr>
        <p:spPr>
          <a:xfrm>
            <a:off x="4919472" y="48188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 메 일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6876288" y="481888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jmworks0612@naver.com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4754880" y="5321808"/>
            <a:ext cx="7269480" cy="512064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45" name="Shape 41"/>
          <p:cNvSpPr/>
          <p:nvPr/>
        </p:nvSpPr>
        <p:spPr>
          <a:xfrm>
            <a:off x="4754880" y="5458968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6" name="Text 42"/>
          <p:cNvSpPr/>
          <p:nvPr/>
        </p:nvSpPr>
        <p:spPr>
          <a:xfrm>
            <a:off x="4919472" y="538581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홈페이지</a:t>
            </a:r>
            <a:endParaRPr lang="en-US" sz="1050" dirty="0"/>
          </a:p>
        </p:txBody>
      </p:sp>
      <p:sp>
        <p:nvSpPr>
          <p:cNvPr id="47" name="Text 43"/>
          <p:cNvSpPr/>
          <p:nvPr/>
        </p:nvSpPr>
        <p:spPr>
          <a:xfrm>
            <a:off x="6876288" y="538581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jminterior.co.kr</a:t>
            </a:r>
            <a:endParaRPr lang="en-US" sz="1050" dirty="0"/>
          </a:p>
        </p:txBody>
      </p:sp>
      <p:sp>
        <p:nvSpPr>
          <p:cNvPr id="48" name="Shape 4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9" name="Text 45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  수행 역량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Capabilities &amp; Expertise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325880"/>
            <a:ext cx="5212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325880"/>
            <a:ext cx="521208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1325880"/>
            <a:ext cx="685800" cy="21945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" y="182880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234440" y="14173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사무실 인테리어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34440" y="1892808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법인 및 개인 사무실, 의원, 학원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리모델링 전문. 기획~준공 원스톱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234440" y="3044952"/>
            <a:ext cx="4297680" cy="20116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Shape 13"/>
          <p:cNvSpPr/>
          <p:nvPr/>
        </p:nvSpPr>
        <p:spPr>
          <a:xfrm>
            <a:off x="1234440" y="3044952"/>
            <a:ext cx="3653028" cy="2011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4"/>
          <p:cNvSpPr/>
          <p:nvPr/>
        </p:nvSpPr>
        <p:spPr>
          <a:xfrm>
            <a:off x="1234440" y="304495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85%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446520" y="1325880"/>
            <a:ext cx="5212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46520" y="1325880"/>
            <a:ext cx="521208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0" name="Shape 17"/>
          <p:cNvSpPr/>
          <p:nvPr/>
        </p:nvSpPr>
        <p:spPr>
          <a:xfrm>
            <a:off x="6446520" y="1325880"/>
            <a:ext cx="685800" cy="21945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1" name="Text 18"/>
          <p:cNvSpPr/>
          <p:nvPr/>
        </p:nvSpPr>
        <p:spPr>
          <a:xfrm>
            <a:off x="6464808" y="182880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🍽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223760" y="14173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상업공간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223760" y="1892808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카페, 식당, 뷰티샵, 학원 등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상업시설 특화 설계 및 시공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223760" y="3044952"/>
            <a:ext cx="4297680" cy="20116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5" name="Shape 22"/>
          <p:cNvSpPr/>
          <p:nvPr/>
        </p:nvSpPr>
        <p:spPr>
          <a:xfrm>
            <a:off x="7223760" y="3044952"/>
            <a:ext cx="3008376" cy="2011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6" name="Text 23"/>
          <p:cNvSpPr/>
          <p:nvPr/>
        </p:nvSpPr>
        <p:spPr>
          <a:xfrm>
            <a:off x="7223760" y="304495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70%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57200" y="3721608"/>
            <a:ext cx="5212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57200" y="3721608"/>
            <a:ext cx="521208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9" name="Shape 26"/>
          <p:cNvSpPr/>
          <p:nvPr/>
        </p:nvSpPr>
        <p:spPr>
          <a:xfrm>
            <a:off x="457200" y="3721608"/>
            <a:ext cx="685800" cy="21945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30" name="Text 27"/>
          <p:cNvSpPr/>
          <p:nvPr/>
        </p:nvSpPr>
        <p:spPr>
          <a:xfrm>
            <a:off x="475488" y="4224528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1234440" y="381304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산업·공공시설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234440" y="4288536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HD현대, 부산대학교, 낙동강유역환경청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공공기관 및 산업시설 실적 보유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1234440" y="5440680"/>
            <a:ext cx="4297680" cy="20116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4" name="Shape 31"/>
          <p:cNvSpPr/>
          <p:nvPr/>
        </p:nvSpPr>
        <p:spPr>
          <a:xfrm>
            <a:off x="1234440" y="5440680"/>
            <a:ext cx="2578608" cy="2011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5" name="Text 32"/>
          <p:cNvSpPr/>
          <p:nvPr/>
        </p:nvSpPr>
        <p:spPr>
          <a:xfrm>
            <a:off x="1234440" y="544068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60%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446520" y="3721608"/>
            <a:ext cx="5212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446520" y="3721608"/>
            <a:ext cx="521208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8" name="Shape 35"/>
          <p:cNvSpPr/>
          <p:nvPr/>
        </p:nvSpPr>
        <p:spPr>
          <a:xfrm>
            <a:off x="6446520" y="3721608"/>
            <a:ext cx="685800" cy="21945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39" name="Text 36"/>
          <p:cNvSpPr/>
          <p:nvPr/>
        </p:nvSpPr>
        <p:spPr>
          <a:xfrm>
            <a:off x="6464808" y="4224528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7223760" y="381304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유지·보수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7223760" y="4288536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준공 후 1년 하자보증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긴급 A/S 대응 가능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7223760" y="5440680"/>
            <a:ext cx="4297680" cy="20116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3" name="Shape 40"/>
          <p:cNvSpPr/>
          <p:nvPr/>
        </p:nvSpPr>
        <p:spPr>
          <a:xfrm>
            <a:off x="7223760" y="5440680"/>
            <a:ext cx="3867912" cy="2011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4" name="Text 41"/>
          <p:cNvSpPr/>
          <p:nvPr/>
        </p:nvSpPr>
        <p:spPr>
          <a:xfrm>
            <a:off x="7223760" y="544068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90%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6" name="Text 43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  2024년 주요 공사실적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2024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828800"/>
                <a:gridCol w="7360920"/>
                <a:gridCol w="1645920"/>
              </a:tblGrid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진행중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합계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13.3억원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윤앤오 음악학원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9,616만원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주식회사 다원이엔씨 사무실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8,580만원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2024.01~2024.02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경남대학교 평생교육관 미래라이프대학 강의실 및 실습실 구축공사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8,333만원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2024.05~2024.06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착한미용실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8,049만원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진영HNS로비/접견실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7,590만원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삼명기계공업주식회사 환경개선공사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6,600만원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2024.01~2024.02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교방동 누리학원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5,245만원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2024.12~2025.01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블루돌핀어학원인테리어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4,910만원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태웅산전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4,500만원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JD윙스 505호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4,370만원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2024.12~2025.01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계단실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3,322만원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  2024년 주요 공사실적 (계속)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2024 (cont.)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828800"/>
                <a:gridCol w="7360920"/>
                <a:gridCol w="1645920"/>
              </a:tblGrid>
              <a:tr h="18222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18222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문소영 수학관리학원인테리어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3,200만원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22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PNU 펜토미노 교육과정 사업 바이오소재과학과 강의실 환경개선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3,185만원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222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JD윙스 504호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3,163만원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22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2024.09~2024.09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에이치케이금융파트너스 경남사업단 인테리어 및 원상복구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2,980만원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222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SK테크노파크 618호 사무실인테리어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2,750만원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22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2024.12~2024.12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진해 자은동 교습소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2,590만원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222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창원 북면 학원인테리어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2,480만원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22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소답동 카페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2,340만원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222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HCS공장 탈의실 및 샤워실 보수공사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2,329만원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22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2024.07~2024.07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미래환경㈜인테리어공사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2,250만원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222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진해삼성영어학원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2,222만원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22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2024.08~2024.08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창원 힐스테이트 미용실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2,220만원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222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HSC공장 사무동 계단 및 복도 보수공사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1,962만원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22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2024.05~2024.06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낙동강유역환경청 1층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1,888만원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222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더 베이커스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1,860만원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22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엠에스이 회의실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1,795만원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222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헤어샾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1,760만원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22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2024.07~2024.08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창원 북면 감계 푸르지오 교습소인테리어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1,647만원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222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2024.08~2024.09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청춘푸줏간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1,640만원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22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앨리스 인테리어 공사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1,619만원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222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2024.04~2024.04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더강해진수학교습소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1,530만원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22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2024.09~2024.09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아름드리숲상담센터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1,487만원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222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2024.07~2024.07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손길헤어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1,370만원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22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에이치케이금융파트너스 대구사업단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1,322만원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222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화연제과 반송점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1,261만원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22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2024.08~2024.09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세영수학교습소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1,253만원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222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에이치케이금융파트너스 대구사업단 안동주재팀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1,025만원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  2025년 주요 공사실적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2025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828800"/>
                <a:gridCol w="7360920"/>
                <a:gridCol w="1645920"/>
              </a:tblGrid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서경방송 2층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2.9억원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2025.03~2025.06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다구리 109번지 근린생활시설 신축공사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2.8억원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2025.06~2025.07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도만 카페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1.8억원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2025.03~2025.04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㈜MH에탄올 사무실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1.6억원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2025.07~2025.08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HD현대마린엔진 생활관 탈의실 개선 및 가구 교체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9,405만원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2025.01~2025.02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MH에탄올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8,890만원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2025.06~2025.07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이우철한방누릉지삼계탕(진해점)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8,399만원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2025.03~2025.06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경남산소 사무실 리모델링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7,200만원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카페디아크마린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7,200만원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2025.06~2025.07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이홍열법률사무소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5,312만원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2025.05~2025.07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제일전자공업㈜ 전시실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5,280만원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법무법인 디에이치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4,300만원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  2025년 주요 공사실적 (계속)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2025 (cont.)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828800"/>
                <a:gridCol w="7360920"/>
                <a:gridCol w="1645920"/>
              </a:tblGrid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2025.03~2025.04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창원 키움에셋플레너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4,000만원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2025.04~2025.05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셀포렙 라헨느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3,980만원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진행중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스포츠가치센터 이용자 휴게공간 및 흡연부스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3,691만원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진주 수학학원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3,364만원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2025.07~2025.08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 PNU 펜토미노 교육과정 원예생명과학과 강의실 환경개선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3,350만원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2025.01~2025.01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계단실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3,322만원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2025.01~2025.02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라온메디칼 사무실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3,300만원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2025.01~2025.02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더 젤 네일샵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3,250만원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에이지로보틱스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3,249만원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2025.12~2025.01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리화바버샵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3,040만원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회원동 교습소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3,000만원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2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2025.02~2025.02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양산타코야끼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2,947만원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  2025년 주요 공사실적 (계속)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2025 (cont.)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828800"/>
                <a:gridCol w="7360920"/>
                <a:gridCol w="164592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2025.04~2025.04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숲칼프(두피탈모관리샵)인테리어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2,900만원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2025.12~2025.01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사파동 변호사 사무실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2,734만원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주남 엘리브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2,200만원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KICXUP AI LOUNGE 구축 실내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2,182만원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2025.04~2025.04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네일샵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2,100만원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 PNU 펜토미노 교육과정 바이오소재과학과 강의실 환경개선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2,085만원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내동 교습소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1,828만원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2025.07~2025.08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중동 미용실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1,828만원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2025.11~2025.12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나라정보시스템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1,679만원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2025.04~2025.04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네일샵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1,638만원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동전산단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1,276만원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  2026년 공사실적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Projects in 2026 (진행중)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828800"/>
                <a:gridCol w="7360920"/>
                <a:gridCol w="164592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2026.01~2026.01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대상힐스미용실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3,080만원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2026.03~2026.03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주식회사 대한재해예방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2,409만원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2026.01~2026.01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 PNU 펜토미노 융합전공 원예생명과학과 환경개선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2,400만원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진행중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감계아파트 202동 605호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1,200만원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2026.02~2026.02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기타학원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1,184만원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2026.02~2026.03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영어학원인테리어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1,086만원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2026.03~2026.03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HD현대마린엔진 대표이사실 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1,059만원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2026.02~2026.02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RISE 기능성푸드평가 동물조직분석실 교육 환경 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1,000만원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06  공종별 실적 요약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Project Summary by Type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325880"/>
            <a:ext cx="35204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325880"/>
            <a:ext cx="352044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1325880"/>
            <a:ext cx="3520440" cy="5943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13258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2024년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19659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39건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457200" y="2697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25.9억원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206240" y="1325880"/>
            <a:ext cx="35204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206240" y="1325880"/>
            <a:ext cx="352044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" name="Shape 14"/>
          <p:cNvSpPr/>
          <p:nvPr/>
        </p:nvSpPr>
        <p:spPr>
          <a:xfrm>
            <a:off x="4206240" y="1325880"/>
            <a:ext cx="3520440" cy="5943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18" name="Text 15"/>
          <p:cNvSpPr/>
          <p:nvPr/>
        </p:nvSpPr>
        <p:spPr>
          <a:xfrm>
            <a:off x="4206240" y="13258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2025년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206240" y="19659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35건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4206240" y="2697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20.9억원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955280" y="1325880"/>
            <a:ext cx="35204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955280" y="1325880"/>
            <a:ext cx="352044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3" name="Shape 20"/>
          <p:cNvSpPr/>
          <p:nvPr/>
        </p:nvSpPr>
        <p:spPr>
          <a:xfrm>
            <a:off x="7955280" y="1325880"/>
            <a:ext cx="3520440" cy="5943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4" name="Text 21"/>
          <p:cNvSpPr/>
          <p:nvPr/>
        </p:nvSpPr>
        <p:spPr>
          <a:xfrm>
            <a:off x="7955280" y="13258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2026년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955280" y="19659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8건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7955280" y="2697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1.3억원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57200" y="3310128"/>
            <a:ext cx="11274552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8" name="Shape 25"/>
          <p:cNvSpPr/>
          <p:nvPr/>
        </p:nvSpPr>
        <p:spPr>
          <a:xfrm>
            <a:off x="457200" y="3337560"/>
            <a:ext cx="11274552" cy="5486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34747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공종별 분류 (2024~2026)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7200" y="393192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" y="3931920"/>
            <a:ext cx="73152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2" name="Shape 29"/>
          <p:cNvSpPr/>
          <p:nvPr/>
        </p:nvSpPr>
        <p:spPr>
          <a:xfrm>
            <a:off x="621792" y="4114800"/>
            <a:ext cx="228600" cy="2286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3" name="Text 30"/>
          <p:cNvSpPr/>
          <p:nvPr/>
        </p:nvSpPr>
        <p:spPr>
          <a:xfrm>
            <a:off x="960120" y="40050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사무실 / 오피스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960120" y="4297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18건 이상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206240" y="393192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206240" y="3931920"/>
            <a:ext cx="73152" cy="65836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7" name="Shape 34"/>
          <p:cNvSpPr/>
          <p:nvPr/>
        </p:nvSpPr>
        <p:spPr>
          <a:xfrm>
            <a:off x="4370832" y="4114800"/>
            <a:ext cx="228600" cy="2286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8" name="Text 35"/>
          <p:cNvSpPr/>
          <p:nvPr/>
        </p:nvSpPr>
        <p:spPr>
          <a:xfrm>
            <a:off x="4709160" y="40050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학원 / 교육시설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709160" y="4297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12건 이상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955280" y="393192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955280" y="3931920"/>
            <a:ext cx="73152" cy="6583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2" name="Shape 39"/>
          <p:cNvSpPr/>
          <p:nvPr/>
        </p:nvSpPr>
        <p:spPr>
          <a:xfrm>
            <a:off x="8119872" y="4114800"/>
            <a:ext cx="228600" cy="2286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3" name="Text 40"/>
          <p:cNvSpPr/>
          <p:nvPr/>
        </p:nvSpPr>
        <p:spPr>
          <a:xfrm>
            <a:off x="8458200" y="40050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카페 / 식당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8458200" y="4297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8건 이상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457200" y="470916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57200" y="4709160"/>
            <a:ext cx="73152" cy="65836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7" name="Shape 44"/>
          <p:cNvSpPr/>
          <p:nvPr/>
        </p:nvSpPr>
        <p:spPr>
          <a:xfrm>
            <a:off x="621792" y="4892040"/>
            <a:ext cx="228600" cy="2286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8" name="Text 45"/>
          <p:cNvSpPr/>
          <p:nvPr/>
        </p:nvSpPr>
        <p:spPr>
          <a:xfrm>
            <a:off x="960120" y="4782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뷰티 / 헤어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960120" y="5074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8건 이상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4206240" y="470916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206240" y="4709160"/>
            <a:ext cx="73152" cy="658368"/>
          </a:xfrm>
          <a:prstGeom prst="rect">
            <a:avLst/>
          </a:prstGeom>
          <a:solidFill>
            <a:srgbClr val="5B9E6A"/>
          </a:solidFill>
          <a:ln/>
        </p:spPr>
      </p:sp>
      <p:sp>
        <p:nvSpPr>
          <p:cNvPr id="52" name="Shape 49"/>
          <p:cNvSpPr/>
          <p:nvPr/>
        </p:nvSpPr>
        <p:spPr>
          <a:xfrm>
            <a:off x="4370832" y="4892040"/>
            <a:ext cx="228600" cy="228600"/>
          </a:xfrm>
          <a:prstGeom prst="rect">
            <a:avLst/>
          </a:prstGeom>
          <a:solidFill>
            <a:srgbClr val="5B9E6A"/>
          </a:solidFill>
          <a:ln/>
        </p:spPr>
      </p:sp>
      <p:sp>
        <p:nvSpPr>
          <p:cNvPr id="53" name="Text 50"/>
          <p:cNvSpPr/>
          <p:nvPr/>
        </p:nvSpPr>
        <p:spPr>
          <a:xfrm>
            <a:off x="4709160" y="4782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공공기관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4709160" y="5074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6건 이상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7955280" y="470916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955280" y="4709160"/>
            <a:ext cx="73152" cy="658368"/>
          </a:xfrm>
          <a:prstGeom prst="rect">
            <a:avLst/>
          </a:prstGeom>
          <a:solidFill>
            <a:srgbClr val="757575"/>
          </a:solidFill>
          <a:ln/>
        </p:spPr>
      </p:sp>
      <p:sp>
        <p:nvSpPr>
          <p:cNvPr id="57" name="Shape 54"/>
          <p:cNvSpPr/>
          <p:nvPr/>
        </p:nvSpPr>
        <p:spPr>
          <a:xfrm>
            <a:off x="8119872" y="4892040"/>
            <a:ext cx="228600" cy="228600"/>
          </a:xfrm>
          <a:prstGeom prst="rect">
            <a:avLst/>
          </a:prstGeom>
          <a:solidFill>
            <a:srgbClr val="757575"/>
          </a:solidFill>
          <a:ln/>
        </p:spPr>
      </p:sp>
      <p:sp>
        <p:nvSpPr>
          <p:cNvPr id="58" name="Text 55"/>
          <p:cNvSpPr/>
          <p:nvPr/>
        </p:nvSpPr>
        <p:spPr>
          <a:xfrm>
            <a:off x="8458200" y="4782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기타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8458200" y="5074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12건 이상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457200" y="6236208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* 1천만원 이상 프로젝트 기준. 공종별 건수는 개략 분류 기준입니다.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62" name="Text 59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3152"/>
            <a:ext cx="12192000" cy="36576"/>
          </a:xfrm>
          <a:prstGeom prst="rect">
            <a:avLst/>
          </a:prstGeom>
          <a:solidFill>
            <a:srgbClr val="F9A825"/>
          </a:solidFill>
          <a:ln/>
        </p:spPr>
      </p:sp>
      <p:pic>
        <p:nvPicPr>
          <p:cNvPr id="6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99916" y="1234440"/>
            <a:ext cx="4389120" cy="1472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3383280"/>
            <a:ext cx="1219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감사합니다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0" y="4407408"/>
            <a:ext cx="1219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600" kern="0" dirty="0">
                <a:solidFill>
                  <a:srgbClr val="757575"/>
                </a:solidFill>
              </a:rPr>
              <a:t>THANK YOU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894076" y="4919472"/>
            <a:ext cx="6400800" cy="457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5074920"/>
            <a:ext cx="10360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린데코리아㈜ 창원공장 공무/고객지원 사무실 인테리어공사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14400" y="55778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대표 이소연  |  055-252-0611  |  jminterior.co.kr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2026-03-16T02:05:24Z</dcterms:created>
  <dcterms:modified xsi:type="dcterms:W3CDTF">2026-03-16T02:05:24Z</dcterms:modified>
</cp:coreProperties>
</file>